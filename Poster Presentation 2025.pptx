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1_535BCB66.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7" r:id="rId5"/>
  </p:sldIdLst>
  <p:sldSz cx="43891200" cy="32918400"/>
  <p:notesSz cx="9601200" cy="7315200"/>
  <p:defaultTextStyle>
    <a:defPPr>
      <a:defRPr lang="en-US"/>
    </a:defPPr>
    <a:lvl1pPr marL="0" algn="l" defTabSz="997884" rtl="0" eaLnBrk="1" latinLnBrk="0" hangingPunct="1">
      <a:defRPr sz="4000" kern="1200">
        <a:solidFill>
          <a:schemeClr val="tx1"/>
        </a:solidFill>
        <a:latin typeface="+mn-lt"/>
        <a:ea typeface="+mn-ea"/>
        <a:cs typeface="+mn-cs"/>
      </a:defRPr>
    </a:lvl1pPr>
    <a:lvl2pPr marL="997884" algn="l" defTabSz="997884" rtl="0" eaLnBrk="1" latinLnBrk="0" hangingPunct="1">
      <a:defRPr sz="4000" kern="1200">
        <a:solidFill>
          <a:schemeClr val="tx1"/>
        </a:solidFill>
        <a:latin typeface="+mn-lt"/>
        <a:ea typeface="+mn-ea"/>
        <a:cs typeface="+mn-cs"/>
      </a:defRPr>
    </a:lvl2pPr>
    <a:lvl3pPr marL="1995770" algn="l" defTabSz="997884" rtl="0" eaLnBrk="1" latinLnBrk="0" hangingPunct="1">
      <a:defRPr sz="4000" kern="1200">
        <a:solidFill>
          <a:schemeClr val="tx1"/>
        </a:solidFill>
        <a:latin typeface="+mn-lt"/>
        <a:ea typeface="+mn-ea"/>
        <a:cs typeface="+mn-cs"/>
      </a:defRPr>
    </a:lvl3pPr>
    <a:lvl4pPr marL="2993654" algn="l" defTabSz="997884" rtl="0" eaLnBrk="1" latinLnBrk="0" hangingPunct="1">
      <a:defRPr sz="4000" kern="1200">
        <a:solidFill>
          <a:schemeClr val="tx1"/>
        </a:solidFill>
        <a:latin typeface="+mn-lt"/>
        <a:ea typeface="+mn-ea"/>
        <a:cs typeface="+mn-cs"/>
      </a:defRPr>
    </a:lvl4pPr>
    <a:lvl5pPr marL="3991538" algn="l" defTabSz="997884" rtl="0" eaLnBrk="1" latinLnBrk="0" hangingPunct="1">
      <a:defRPr sz="4000" kern="1200">
        <a:solidFill>
          <a:schemeClr val="tx1"/>
        </a:solidFill>
        <a:latin typeface="+mn-lt"/>
        <a:ea typeface="+mn-ea"/>
        <a:cs typeface="+mn-cs"/>
      </a:defRPr>
    </a:lvl5pPr>
    <a:lvl6pPr marL="4989424" algn="l" defTabSz="997884" rtl="0" eaLnBrk="1" latinLnBrk="0" hangingPunct="1">
      <a:defRPr sz="4000" kern="1200">
        <a:solidFill>
          <a:schemeClr val="tx1"/>
        </a:solidFill>
        <a:latin typeface="+mn-lt"/>
        <a:ea typeface="+mn-ea"/>
        <a:cs typeface="+mn-cs"/>
      </a:defRPr>
    </a:lvl6pPr>
    <a:lvl7pPr marL="5987308" algn="l" defTabSz="997884" rtl="0" eaLnBrk="1" latinLnBrk="0" hangingPunct="1">
      <a:defRPr sz="4000" kern="1200">
        <a:solidFill>
          <a:schemeClr val="tx1"/>
        </a:solidFill>
        <a:latin typeface="+mn-lt"/>
        <a:ea typeface="+mn-ea"/>
        <a:cs typeface="+mn-cs"/>
      </a:defRPr>
    </a:lvl7pPr>
    <a:lvl8pPr marL="6985194" algn="l" defTabSz="997884" rtl="0" eaLnBrk="1" latinLnBrk="0" hangingPunct="1">
      <a:defRPr sz="4000" kern="1200">
        <a:solidFill>
          <a:schemeClr val="tx1"/>
        </a:solidFill>
        <a:latin typeface="+mn-lt"/>
        <a:ea typeface="+mn-ea"/>
        <a:cs typeface="+mn-cs"/>
      </a:defRPr>
    </a:lvl8pPr>
    <a:lvl9pPr marL="7983078" algn="l" defTabSz="997884" rtl="0" eaLnBrk="1" latinLnBrk="0" hangingPunct="1">
      <a:defRPr sz="4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B2C0738-90A3-7E6F-2ADD-1B320B355B02}" name="Dalal, Nihar" initials="DN" userId="S::dalal.64@buckeyemail.osu.edu::ae856b60-cd51-4e76-9a80-368b6dcb1948"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66"/>
    <a:srgbClr val="BB0000"/>
    <a:srgbClr val="0000FF"/>
    <a:srgbClr val="777877"/>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8455EA-632B-F30A-18E4-70F091999BC3}" v="52" dt="2025-04-17T02:45:01.218"/>
    <p1510:client id="{851E49FB-8E31-4243-B9D6-A3ACE7E29838}" v="1244" dt="2025-04-17T02:45:54.59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43"/>
  </p:normalViewPr>
  <p:slideViewPr>
    <p:cSldViewPr snapToGrid="0">
      <p:cViewPr varScale="1">
        <p:scale>
          <a:sx n="23" d="100"/>
          <a:sy n="23" d="100"/>
        </p:scale>
        <p:origin x="752" y="344"/>
      </p:cViewPr>
      <p:guideLst>
        <p:guide orient="horz"/>
        <p:guide/>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omments/modernComment_101_535BCB66.xml><?xml version="1.0" encoding="utf-8"?>
<p188:cmLst xmlns:a="http://schemas.openxmlformats.org/drawingml/2006/main" xmlns:r="http://schemas.openxmlformats.org/officeDocument/2006/relationships" xmlns:p188="http://schemas.microsoft.com/office/powerpoint/2018/8/main">
  <p188:cm id="{250DED26-47F4-4EAE-8EA0-4BECE9582EC6}" authorId="{CB2C0738-90A3-7E6F-2ADD-1B320B355B02}" created="2025-04-17T02:44:59.327">
    <ac:deMkLst xmlns:ac="http://schemas.microsoft.com/office/drawing/2013/main/command">
      <pc:docMk xmlns:pc="http://schemas.microsoft.com/office/powerpoint/2013/main/command"/>
      <pc:sldMk xmlns:pc="http://schemas.microsoft.com/office/powerpoint/2013/main/command" cId="1398524774" sldId="257"/>
      <ac:spMk id="37" creationId="{34FD160D-6001-27D9-86E8-6689F4A5265A}"/>
    </ac:deMkLst>
    <p188:txBody>
      <a:bodyPr/>
      <a:lstStyle/>
      <a:p>
        <a:r>
          <a:rPr lang="en-US"/>
          <a:t>Looks good to me!! Excellent work!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160722" cy="365606"/>
          </a:xfrm>
          <a:prstGeom prst="rect">
            <a:avLst/>
          </a:prstGeom>
        </p:spPr>
        <p:txBody>
          <a:bodyPr vert="horz" lIns="43946" tIns="21973" rIns="43946" bIns="21973" rtlCol="0"/>
          <a:lstStyle>
            <a:lvl1pPr algn="l">
              <a:defRPr sz="600"/>
            </a:lvl1pPr>
          </a:lstStyle>
          <a:p>
            <a:endParaRPr lang="en-US"/>
          </a:p>
        </p:txBody>
      </p:sp>
      <p:sp>
        <p:nvSpPr>
          <p:cNvPr id="3" name="日期占位符 2"/>
          <p:cNvSpPr>
            <a:spLocks noGrp="1"/>
          </p:cNvSpPr>
          <p:nvPr>
            <p:ph type="dt" idx="1"/>
          </p:nvPr>
        </p:nvSpPr>
        <p:spPr>
          <a:xfrm>
            <a:off x="5438204" y="0"/>
            <a:ext cx="4160722" cy="365606"/>
          </a:xfrm>
          <a:prstGeom prst="rect">
            <a:avLst/>
          </a:prstGeom>
        </p:spPr>
        <p:txBody>
          <a:bodyPr vert="horz" lIns="43946" tIns="21973" rIns="43946" bIns="21973" rtlCol="0"/>
          <a:lstStyle>
            <a:lvl1pPr algn="r">
              <a:defRPr sz="600"/>
            </a:lvl1pPr>
          </a:lstStyle>
          <a:p>
            <a:fld id="{5B2E43A9-815C-423F-853E-349CB03B6F7B}" type="datetimeFigureOut">
              <a:rPr lang="en-US" smtClean="0"/>
              <a:t>12/1/25</a:t>
            </a:fld>
            <a:endParaRPr lang="en-US"/>
          </a:p>
        </p:txBody>
      </p:sp>
      <p:sp>
        <p:nvSpPr>
          <p:cNvPr id="4" name="幻灯片图像占位符 3"/>
          <p:cNvSpPr>
            <a:spLocks noGrp="1" noRot="1" noChangeAspect="1"/>
          </p:cNvSpPr>
          <p:nvPr>
            <p:ph type="sldImg" idx="2"/>
          </p:nvPr>
        </p:nvSpPr>
        <p:spPr>
          <a:xfrm>
            <a:off x="2971800" y="549275"/>
            <a:ext cx="3657600" cy="2743200"/>
          </a:xfrm>
          <a:prstGeom prst="rect">
            <a:avLst/>
          </a:prstGeom>
          <a:noFill/>
          <a:ln w="12700">
            <a:solidFill>
              <a:prstClr val="black"/>
            </a:solidFill>
          </a:ln>
        </p:spPr>
        <p:txBody>
          <a:bodyPr vert="horz" lIns="43946" tIns="21973" rIns="43946" bIns="21973" rtlCol="0" anchor="ctr"/>
          <a:lstStyle/>
          <a:p>
            <a:endParaRPr lang="en-US"/>
          </a:p>
        </p:txBody>
      </p:sp>
      <p:sp>
        <p:nvSpPr>
          <p:cNvPr id="5" name="备注占位符 4"/>
          <p:cNvSpPr>
            <a:spLocks noGrp="1"/>
          </p:cNvSpPr>
          <p:nvPr>
            <p:ph type="body" sz="quarter" idx="3"/>
          </p:nvPr>
        </p:nvSpPr>
        <p:spPr>
          <a:xfrm>
            <a:off x="959817" y="3474412"/>
            <a:ext cx="7681567" cy="3291994"/>
          </a:xfrm>
          <a:prstGeom prst="rect">
            <a:avLst/>
          </a:prstGeom>
        </p:spPr>
        <p:txBody>
          <a:bodyPr vert="horz" lIns="43946" tIns="21973" rIns="43946" bIns="21973"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6948055"/>
            <a:ext cx="4160722" cy="365606"/>
          </a:xfrm>
          <a:prstGeom prst="rect">
            <a:avLst/>
          </a:prstGeom>
        </p:spPr>
        <p:txBody>
          <a:bodyPr vert="horz" lIns="43946" tIns="21973" rIns="43946" bIns="21973" rtlCol="0" anchor="b"/>
          <a:lstStyle>
            <a:lvl1pPr algn="l">
              <a:defRPr sz="600"/>
            </a:lvl1pPr>
          </a:lstStyle>
          <a:p>
            <a:endParaRPr lang="en-US"/>
          </a:p>
        </p:txBody>
      </p:sp>
      <p:sp>
        <p:nvSpPr>
          <p:cNvPr id="7" name="灯片编号占位符 6"/>
          <p:cNvSpPr>
            <a:spLocks noGrp="1"/>
          </p:cNvSpPr>
          <p:nvPr>
            <p:ph type="sldNum" sz="quarter" idx="5"/>
          </p:nvPr>
        </p:nvSpPr>
        <p:spPr>
          <a:xfrm>
            <a:off x="5438204" y="6948055"/>
            <a:ext cx="4160722" cy="365606"/>
          </a:xfrm>
          <a:prstGeom prst="rect">
            <a:avLst/>
          </a:prstGeom>
        </p:spPr>
        <p:txBody>
          <a:bodyPr vert="horz" lIns="43946" tIns="21973" rIns="43946" bIns="21973" rtlCol="0" anchor="b"/>
          <a:lstStyle>
            <a:lvl1pPr algn="r">
              <a:defRPr sz="600"/>
            </a:lvl1pPr>
          </a:lstStyle>
          <a:p>
            <a:fld id="{932B2ED5-0CC0-438C-9EAD-654C5CAE18AD}" type="slidenum">
              <a:rPr lang="en-US" smtClean="0"/>
              <a:t>‹#›</a:t>
            </a:fld>
            <a:endParaRPr lang="en-US"/>
          </a:p>
        </p:txBody>
      </p:sp>
    </p:spTree>
    <p:extLst>
      <p:ext uri="{BB962C8B-B14F-4D97-AF65-F5344CB8AC3E}">
        <p14:creationId xmlns:p14="http://schemas.microsoft.com/office/powerpoint/2010/main" val="1054717833"/>
      </p:ext>
    </p:extLst>
  </p:cSld>
  <p:clrMap bg1="lt1" tx1="dk1" bg2="lt2" tx2="dk2" accent1="accent1" accent2="accent2" accent3="accent3" accent4="accent4" accent5="accent5" accent6="accent6" hlink="hlink" folHlink="folHlink"/>
  <p:notesStyle>
    <a:lvl1pPr marL="0" algn="l" defTabSz="1828800" rtl="0" eaLnBrk="1" latinLnBrk="0" hangingPunct="1">
      <a:defRPr sz="2400" kern="1200">
        <a:solidFill>
          <a:schemeClr val="tx1"/>
        </a:solidFill>
        <a:latin typeface="+mn-lt"/>
        <a:ea typeface="+mn-ea"/>
        <a:cs typeface="+mn-cs"/>
      </a:defRPr>
    </a:lvl1pPr>
    <a:lvl2pPr marL="914400" algn="l" defTabSz="1828800" rtl="0" eaLnBrk="1" latinLnBrk="0" hangingPunct="1">
      <a:defRPr sz="2400" kern="1200">
        <a:solidFill>
          <a:schemeClr val="tx1"/>
        </a:solidFill>
        <a:latin typeface="+mn-lt"/>
        <a:ea typeface="+mn-ea"/>
        <a:cs typeface="+mn-cs"/>
      </a:defRPr>
    </a:lvl2pPr>
    <a:lvl3pPr marL="1828800" algn="l" defTabSz="1828800" rtl="0" eaLnBrk="1" latinLnBrk="0" hangingPunct="1">
      <a:defRPr sz="2400" kern="1200">
        <a:solidFill>
          <a:schemeClr val="tx1"/>
        </a:solidFill>
        <a:latin typeface="+mn-lt"/>
        <a:ea typeface="+mn-ea"/>
        <a:cs typeface="+mn-cs"/>
      </a:defRPr>
    </a:lvl3pPr>
    <a:lvl4pPr marL="2743200" algn="l" defTabSz="1828800" rtl="0" eaLnBrk="1" latinLnBrk="0" hangingPunct="1">
      <a:defRPr sz="2400" kern="1200">
        <a:solidFill>
          <a:schemeClr val="tx1"/>
        </a:solidFill>
        <a:latin typeface="+mn-lt"/>
        <a:ea typeface="+mn-ea"/>
        <a:cs typeface="+mn-cs"/>
      </a:defRPr>
    </a:lvl4pPr>
    <a:lvl5pPr marL="3657600" algn="l" defTabSz="1828800" rtl="0" eaLnBrk="1" latinLnBrk="0" hangingPunct="1">
      <a:defRPr sz="240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Change:</a:t>
            </a:r>
          </a:p>
          <a:p>
            <a:pPr marL="164798" indent="-164798">
              <a:buFontTx/>
              <a:buChar char="-"/>
            </a:pPr>
            <a:r>
              <a:rPr lang="en-US" dirty="0"/>
              <a:t>Title</a:t>
            </a:r>
          </a:p>
          <a:p>
            <a:pPr marL="164798" indent="-164798">
              <a:buFontTx/>
              <a:buChar char="-"/>
            </a:pPr>
            <a:r>
              <a:rPr lang="en-US" dirty="0"/>
              <a:t>Add CEM/NSF logos</a:t>
            </a:r>
          </a:p>
          <a:p>
            <a:pPr marL="164798" indent="-164798">
              <a:buFontTx/>
              <a:buChar char="-"/>
            </a:pPr>
            <a:r>
              <a:rPr lang="en-US" dirty="0"/>
              <a:t>Authors</a:t>
            </a:r>
          </a:p>
          <a:p>
            <a:pPr marL="164798" indent="-164798">
              <a:buFontTx/>
              <a:buChar char="-"/>
            </a:pPr>
            <a:r>
              <a:rPr lang="en-US" dirty="0"/>
              <a:t>All Figures</a:t>
            </a:r>
          </a:p>
          <a:p>
            <a:pPr marL="164798" indent="-164798">
              <a:buFontTx/>
              <a:buChar char="-"/>
            </a:pPr>
            <a:r>
              <a:rPr lang="en-US" dirty="0"/>
              <a:t>Motivation</a:t>
            </a:r>
          </a:p>
          <a:p>
            <a:pPr marL="164798" indent="-164798">
              <a:buFontTx/>
              <a:buChar char="-"/>
            </a:pPr>
            <a:r>
              <a:rPr lang="en-US" dirty="0"/>
              <a:t>NZAFO Background</a:t>
            </a:r>
          </a:p>
          <a:p>
            <a:pPr marL="164798" indent="-164798">
              <a:buFontTx/>
              <a:buChar char="-"/>
            </a:pPr>
            <a:r>
              <a:rPr lang="en-US" dirty="0"/>
              <a:t>ODFMR background</a:t>
            </a:r>
          </a:p>
          <a:p>
            <a:pPr marL="164798" indent="-164798">
              <a:buFontTx/>
              <a:buChar char="-"/>
            </a:pPr>
            <a:r>
              <a:rPr lang="en-US" dirty="0"/>
              <a:t>Add </a:t>
            </a:r>
            <a:r>
              <a:rPr lang="en-US" dirty="0" err="1"/>
              <a:t>Spinwave</a:t>
            </a:r>
            <a:r>
              <a:rPr lang="en-US" dirty="0"/>
              <a:t> Instability Background</a:t>
            </a:r>
          </a:p>
          <a:p>
            <a:pPr marL="164798" indent="-164798">
              <a:buFontTx/>
              <a:buChar char="-"/>
            </a:pPr>
            <a:r>
              <a:rPr lang="en-US" dirty="0"/>
              <a:t>Fix Bibliography</a:t>
            </a:r>
          </a:p>
          <a:p>
            <a:pPr marL="164798" indent="-164798">
              <a:buFontTx/>
              <a:buChar char="-"/>
            </a:pPr>
            <a:r>
              <a:rPr lang="en-US" dirty="0"/>
              <a:t>Fix Acknowledgements</a:t>
            </a:r>
          </a:p>
          <a:p>
            <a:pPr marL="164798" indent="-164798">
              <a:buFontTx/>
              <a:buChar char="-"/>
            </a:pPr>
            <a:r>
              <a:rPr lang="en-US" dirty="0"/>
              <a:t>Fix Future Direction</a:t>
            </a:r>
          </a:p>
          <a:p>
            <a:pPr marL="164798" indent="-164798">
              <a:buFontTx/>
              <a:buChar char="-"/>
            </a:pPr>
            <a:r>
              <a:rPr lang="en-US" dirty="0"/>
              <a:t>Add Discussion</a:t>
            </a:r>
          </a:p>
        </p:txBody>
      </p:sp>
      <p:sp>
        <p:nvSpPr>
          <p:cNvPr id="4" name="灯片编号占位符 3"/>
          <p:cNvSpPr>
            <a:spLocks noGrp="1"/>
          </p:cNvSpPr>
          <p:nvPr>
            <p:ph type="sldNum" sz="quarter" idx="10"/>
          </p:nvPr>
        </p:nvSpPr>
        <p:spPr/>
        <p:txBody>
          <a:bodyPr/>
          <a:lstStyle/>
          <a:p>
            <a:fld id="{932B2ED5-0CC0-438C-9EAD-654C5CAE18AD}" type="slidenum">
              <a:rPr lang="en-US" smtClean="0"/>
              <a:t>1</a:t>
            </a:fld>
            <a:endParaRPr lang="en-US"/>
          </a:p>
        </p:txBody>
      </p:sp>
    </p:spTree>
    <p:extLst>
      <p:ext uri="{BB962C8B-B14F-4D97-AF65-F5344CB8AC3E}">
        <p14:creationId xmlns:p14="http://schemas.microsoft.com/office/powerpoint/2010/main" val="824893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291841" y="10204705"/>
            <a:ext cx="37307522" cy="94641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583680" y="18434305"/>
            <a:ext cx="3072384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572471" y="2987911"/>
            <a:ext cx="40746254" cy="2062102"/>
          </a:xfrm>
        </p:spPr>
        <p:txBody>
          <a:bodyPr lIns="0" tIns="0" rIns="0" bIns="0"/>
          <a:lstStyle>
            <a:lvl1pPr>
              <a:defRPr sz="13400" b="1">
                <a:solidFill>
                  <a:srgbClr val="41404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572471" y="2987911"/>
            <a:ext cx="40746254" cy="2062102"/>
          </a:xfrm>
        </p:spPr>
        <p:txBody>
          <a:bodyPr lIns="0" tIns="0" rIns="0" bIns="0"/>
          <a:lstStyle>
            <a:lvl1pPr>
              <a:defRPr sz="13400" b="1">
                <a:solidFill>
                  <a:srgbClr val="414042"/>
                </a:solidFill>
                <a:latin typeface="Arial"/>
                <a:cs typeface="Arial"/>
              </a:defRPr>
            </a:lvl1pPr>
          </a:lstStyle>
          <a:p>
            <a:endParaRPr/>
          </a:p>
        </p:txBody>
      </p:sp>
      <p:sp>
        <p:nvSpPr>
          <p:cNvPr id="3" name="Holder 3"/>
          <p:cNvSpPr>
            <a:spLocks noGrp="1"/>
          </p:cNvSpPr>
          <p:nvPr>
            <p:ph sz="half" idx="2"/>
          </p:nvPr>
        </p:nvSpPr>
        <p:spPr>
          <a:xfrm>
            <a:off x="2194561" y="7571233"/>
            <a:ext cx="19092674"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2603967" y="7571233"/>
            <a:ext cx="19092674"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572471" y="2987911"/>
            <a:ext cx="40746254" cy="2062102"/>
          </a:xfrm>
        </p:spPr>
        <p:txBody>
          <a:bodyPr lIns="0" tIns="0" rIns="0" bIns="0"/>
          <a:lstStyle>
            <a:lvl1pPr>
              <a:defRPr sz="13400" b="1">
                <a:solidFill>
                  <a:srgbClr val="41404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572471" y="2987911"/>
            <a:ext cx="40746254" cy="946413"/>
          </a:xfrm>
          <a:prstGeom prst="rect">
            <a:avLst/>
          </a:prstGeom>
        </p:spPr>
        <p:txBody>
          <a:bodyPr wrap="square" lIns="0" tIns="0" rIns="0" bIns="0">
            <a:spAutoFit/>
          </a:bodyPr>
          <a:lstStyle>
            <a:lvl1pPr>
              <a:defRPr sz="6150" b="1">
                <a:solidFill>
                  <a:srgbClr val="414042"/>
                </a:solidFill>
                <a:latin typeface="Arial"/>
                <a:cs typeface="Arial"/>
              </a:defRPr>
            </a:lvl1pPr>
          </a:lstStyle>
          <a:p>
            <a:endParaRPr/>
          </a:p>
        </p:txBody>
      </p:sp>
      <p:sp>
        <p:nvSpPr>
          <p:cNvPr id="3" name="Holder 3"/>
          <p:cNvSpPr>
            <a:spLocks noGrp="1"/>
          </p:cNvSpPr>
          <p:nvPr>
            <p:ph type="body" idx="1"/>
          </p:nvPr>
        </p:nvSpPr>
        <p:spPr>
          <a:xfrm>
            <a:off x="2194560" y="7571233"/>
            <a:ext cx="3950208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923008" y="30614113"/>
            <a:ext cx="14045184" cy="615554"/>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194562" y="30614113"/>
            <a:ext cx="10094976" cy="615554"/>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12/1/25</a:t>
            </a:fld>
            <a:endParaRPr lang="en-US"/>
          </a:p>
        </p:txBody>
      </p:sp>
      <p:sp>
        <p:nvSpPr>
          <p:cNvPr id="6" name="Holder 6"/>
          <p:cNvSpPr>
            <a:spLocks noGrp="1"/>
          </p:cNvSpPr>
          <p:nvPr>
            <p:ph type="sldNum" sz="quarter" idx="7"/>
          </p:nvPr>
        </p:nvSpPr>
        <p:spPr>
          <a:xfrm>
            <a:off x="31601668" y="30614113"/>
            <a:ext cx="10094976" cy="615554"/>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997884">
        <a:defRPr>
          <a:latin typeface="+mn-lt"/>
          <a:ea typeface="+mn-ea"/>
          <a:cs typeface="+mn-cs"/>
        </a:defRPr>
      </a:lvl2pPr>
      <a:lvl3pPr marL="1995770">
        <a:defRPr>
          <a:latin typeface="+mn-lt"/>
          <a:ea typeface="+mn-ea"/>
          <a:cs typeface="+mn-cs"/>
        </a:defRPr>
      </a:lvl3pPr>
      <a:lvl4pPr marL="2993654">
        <a:defRPr>
          <a:latin typeface="+mn-lt"/>
          <a:ea typeface="+mn-ea"/>
          <a:cs typeface="+mn-cs"/>
        </a:defRPr>
      </a:lvl4pPr>
      <a:lvl5pPr marL="3991538">
        <a:defRPr>
          <a:latin typeface="+mn-lt"/>
          <a:ea typeface="+mn-ea"/>
          <a:cs typeface="+mn-cs"/>
        </a:defRPr>
      </a:lvl5pPr>
      <a:lvl6pPr marL="4989424">
        <a:defRPr>
          <a:latin typeface="+mn-lt"/>
          <a:ea typeface="+mn-ea"/>
          <a:cs typeface="+mn-cs"/>
        </a:defRPr>
      </a:lvl6pPr>
      <a:lvl7pPr marL="5987308">
        <a:defRPr>
          <a:latin typeface="+mn-lt"/>
          <a:ea typeface="+mn-ea"/>
          <a:cs typeface="+mn-cs"/>
        </a:defRPr>
      </a:lvl7pPr>
      <a:lvl8pPr marL="6985194">
        <a:defRPr>
          <a:latin typeface="+mn-lt"/>
          <a:ea typeface="+mn-ea"/>
          <a:cs typeface="+mn-cs"/>
        </a:defRPr>
      </a:lvl8pPr>
      <a:lvl9pPr marL="7983078">
        <a:defRPr>
          <a:latin typeface="+mn-lt"/>
          <a:ea typeface="+mn-ea"/>
          <a:cs typeface="+mn-cs"/>
        </a:defRPr>
      </a:lvl9pPr>
    </p:bodyStyle>
    <p:otherStyle>
      <a:lvl1pPr marL="0">
        <a:defRPr>
          <a:latin typeface="+mn-lt"/>
          <a:ea typeface="+mn-ea"/>
          <a:cs typeface="+mn-cs"/>
        </a:defRPr>
      </a:lvl1pPr>
      <a:lvl2pPr marL="997884">
        <a:defRPr>
          <a:latin typeface="+mn-lt"/>
          <a:ea typeface="+mn-ea"/>
          <a:cs typeface="+mn-cs"/>
        </a:defRPr>
      </a:lvl2pPr>
      <a:lvl3pPr marL="1995770">
        <a:defRPr>
          <a:latin typeface="+mn-lt"/>
          <a:ea typeface="+mn-ea"/>
          <a:cs typeface="+mn-cs"/>
        </a:defRPr>
      </a:lvl3pPr>
      <a:lvl4pPr marL="2993654">
        <a:defRPr>
          <a:latin typeface="+mn-lt"/>
          <a:ea typeface="+mn-ea"/>
          <a:cs typeface="+mn-cs"/>
        </a:defRPr>
      </a:lvl4pPr>
      <a:lvl5pPr marL="3991538">
        <a:defRPr>
          <a:latin typeface="+mn-lt"/>
          <a:ea typeface="+mn-ea"/>
          <a:cs typeface="+mn-cs"/>
        </a:defRPr>
      </a:lvl5pPr>
      <a:lvl6pPr marL="4989424">
        <a:defRPr>
          <a:latin typeface="+mn-lt"/>
          <a:ea typeface="+mn-ea"/>
          <a:cs typeface="+mn-cs"/>
        </a:defRPr>
      </a:lvl6pPr>
      <a:lvl7pPr marL="5987308">
        <a:defRPr>
          <a:latin typeface="+mn-lt"/>
          <a:ea typeface="+mn-ea"/>
          <a:cs typeface="+mn-cs"/>
        </a:defRPr>
      </a:lvl7pPr>
      <a:lvl8pPr marL="6985194">
        <a:defRPr>
          <a:latin typeface="+mn-lt"/>
          <a:ea typeface="+mn-ea"/>
          <a:cs typeface="+mn-cs"/>
        </a:defRPr>
      </a:lvl8pPr>
      <a:lvl9pPr marL="7983078">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microsoft.com/office/2018/10/relationships/comments" Target="../comments/modernComment_101_535BCB66.xml"/><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1" Type="http://schemas.openxmlformats.org/officeDocument/2006/relationships/slideLayout" Target="../slideLayouts/slideLayout3.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12.png"/><Relationship Id="rId10" Type="http://schemas.openxmlformats.org/officeDocument/2006/relationships/image" Target="../media/image7.jpe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84613" y="1275161"/>
            <a:ext cx="42953949" cy="31502240"/>
          </a:xfrm>
          <a:prstGeom prst="rect">
            <a:avLst/>
          </a:prstGeom>
          <a:solidFill>
            <a:srgbClr val="B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000"/>
          </a:p>
        </p:txBody>
      </p:sp>
      <p:sp>
        <p:nvSpPr>
          <p:cNvPr id="43" name="Rectangle 42"/>
          <p:cNvSpPr/>
          <p:nvPr/>
        </p:nvSpPr>
        <p:spPr>
          <a:xfrm>
            <a:off x="0" y="228600"/>
            <a:ext cx="43891200" cy="3293097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000"/>
          </a:p>
        </p:txBody>
      </p:sp>
      <p:sp>
        <p:nvSpPr>
          <p:cNvPr id="2" name="object 2"/>
          <p:cNvSpPr txBox="1">
            <a:spLocks noGrp="1"/>
          </p:cNvSpPr>
          <p:nvPr>
            <p:ph type="title"/>
          </p:nvPr>
        </p:nvSpPr>
        <p:spPr>
          <a:xfrm>
            <a:off x="7753447" y="512305"/>
            <a:ext cx="28160334" cy="2000548"/>
          </a:xfrm>
          <a:prstGeom prst="rect">
            <a:avLst/>
          </a:prstGeom>
          <a:ln w="38100">
            <a:noFill/>
          </a:ln>
        </p:spPr>
        <p:txBody>
          <a:bodyPr vert="horz" wrap="square" lIns="0" tIns="0" rIns="0" bIns="0" rtlCol="0">
            <a:spAutoFit/>
          </a:bodyPr>
          <a:lstStyle/>
          <a:p>
            <a:pPr algn="ctr"/>
            <a:r>
              <a:rPr lang="en-US" sz="13000" spc="-338">
                <a:solidFill>
                  <a:schemeClr val="tx1">
                    <a:lumMod val="75000"/>
                    <a:lumOff val="25000"/>
                  </a:schemeClr>
                </a:solidFill>
                <a:latin typeface="+mj-lt"/>
              </a:rPr>
              <a:t>Dark Energy with Type 1a Supernovae</a:t>
            </a:r>
            <a:endParaRPr sz="13000">
              <a:latin typeface="+mj-lt"/>
            </a:endParaRPr>
          </a:p>
        </p:txBody>
      </p:sp>
      <p:sp>
        <p:nvSpPr>
          <p:cNvPr id="31" name="object 31"/>
          <p:cNvSpPr txBox="1"/>
          <p:nvPr/>
        </p:nvSpPr>
        <p:spPr>
          <a:xfrm>
            <a:off x="21913032" y="27938696"/>
            <a:ext cx="13403592" cy="1015663"/>
          </a:xfrm>
          <a:prstGeom prst="rect">
            <a:avLst/>
          </a:prstGeom>
        </p:spPr>
        <p:txBody>
          <a:bodyPr vert="horz" wrap="square" lIns="0" tIns="0" rIns="0" bIns="0" rtlCol="0">
            <a:spAutoFit/>
          </a:bodyPr>
          <a:lstStyle/>
          <a:p>
            <a:pPr marL="27720"/>
            <a:r>
              <a:rPr lang="en-US" sz="6600" b="1" spc="-76">
                <a:solidFill>
                  <a:srgbClr val="231F20"/>
                </a:solidFill>
                <a:latin typeface="+mj-lt"/>
                <a:cs typeface="Arial"/>
              </a:rPr>
              <a:t> </a:t>
            </a:r>
            <a:endParaRPr lang="en-US" sz="6600">
              <a:latin typeface="+mj-lt"/>
              <a:cs typeface="Arial"/>
            </a:endParaRPr>
          </a:p>
        </p:txBody>
      </p:sp>
      <p:sp>
        <p:nvSpPr>
          <p:cNvPr id="20" name="TextBox 19"/>
          <p:cNvSpPr txBox="1"/>
          <p:nvPr/>
        </p:nvSpPr>
        <p:spPr>
          <a:xfrm>
            <a:off x="11204292" y="28041600"/>
            <a:ext cx="1415772" cy="549680"/>
          </a:xfrm>
          <a:prstGeom prst="rect">
            <a:avLst/>
          </a:prstGeom>
          <a:noFill/>
        </p:spPr>
        <p:txBody>
          <a:bodyPr vert="eaVert" wrap="square" rtlCol="0">
            <a:spAutoFit/>
          </a:bodyPr>
          <a:lstStyle/>
          <a:p>
            <a:endParaRPr lang="en-US" sz="8000"/>
          </a:p>
        </p:txBody>
      </p:sp>
      <p:sp>
        <p:nvSpPr>
          <p:cNvPr id="144" name="object 2"/>
          <p:cNvSpPr txBox="1">
            <a:spLocks/>
          </p:cNvSpPr>
          <p:nvPr/>
        </p:nvSpPr>
        <p:spPr>
          <a:xfrm>
            <a:off x="12857129" y="2779514"/>
            <a:ext cx="17866117" cy="1600438"/>
          </a:xfrm>
          <a:prstGeom prst="rect">
            <a:avLst/>
          </a:prstGeom>
          <a:ln w="38100">
            <a:noFill/>
          </a:ln>
        </p:spPr>
        <p:txBody>
          <a:bodyPr vert="horz" wrap="square" lIns="0" tIns="0" rIns="0" bIns="0" rtlCol="0" anchor="t">
            <a:spAutoFit/>
          </a:bodyPr>
          <a:lstStyle>
            <a:lvl1pPr>
              <a:defRPr sz="6700" b="1">
                <a:solidFill>
                  <a:srgbClr val="414042"/>
                </a:solidFill>
                <a:latin typeface="Arial"/>
                <a:ea typeface="+mj-ea"/>
                <a:cs typeface="Arial"/>
              </a:defRPr>
            </a:lvl1pPr>
          </a:lstStyle>
          <a:p>
            <a:pPr marL="27305" algn="ctr"/>
            <a:br>
              <a:rPr lang="en-US" sz="5200" b="0" spc="-174" dirty="0">
                <a:latin typeface="+mj-lt"/>
              </a:rPr>
            </a:br>
            <a:r>
              <a:rPr lang="en-US" sz="5200" b="0" spc="-174" dirty="0">
                <a:solidFill>
                  <a:schemeClr val="tx1"/>
                </a:solidFill>
                <a:latin typeface="+mj-lt"/>
              </a:rPr>
              <a:t>Mentor: Nihar Dalal</a:t>
            </a:r>
            <a:endParaRPr lang="en-US" sz="5200" dirty="0">
              <a:solidFill>
                <a:schemeClr val="tx1"/>
              </a:solidFill>
              <a:latin typeface="+mj-lt"/>
              <a:ea typeface="Calibri"/>
            </a:endParaRPr>
          </a:p>
        </p:txBody>
      </p:sp>
      <p:sp>
        <p:nvSpPr>
          <p:cNvPr id="109" name="object 23">
            <a:extLst>
              <a:ext uri="{FF2B5EF4-FFF2-40B4-BE49-F238E27FC236}">
                <a16:creationId xmlns:a16="http://schemas.microsoft.com/office/drawing/2014/main" id="{690F500D-1FBC-4D5F-80F3-83EAB73DC45C}"/>
              </a:ext>
            </a:extLst>
          </p:cNvPr>
          <p:cNvSpPr txBox="1"/>
          <p:nvPr/>
        </p:nvSpPr>
        <p:spPr>
          <a:xfrm>
            <a:off x="-3308340" y="4660161"/>
            <a:ext cx="12119494" cy="1015663"/>
          </a:xfrm>
          <a:prstGeom prst="rect">
            <a:avLst/>
          </a:prstGeom>
        </p:spPr>
        <p:txBody>
          <a:bodyPr vert="horz" wrap="square" lIns="0" tIns="0" rIns="0" bIns="0" rtlCol="0" anchor="t">
            <a:spAutoFit/>
          </a:bodyPr>
          <a:lstStyle/>
          <a:p>
            <a:pPr marL="27305" algn="ctr"/>
            <a:r>
              <a:rPr lang="en-US" sz="6600" b="1" spc="-10">
                <a:latin typeface="+mj-lt"/>
                <a:cs typeface="Arial"/>
              </a:rPr>
              <a:t>Background</a:t>
            </a:r>
            <a:endParaRPr lang="en-US" sz="6600">
              <a:latin typeface="+mj-lt"/>
              <a:ea typeface="Calibri"/>
              <a:cs typeface="Arial"/>
            </a:endParaRPr>
          </a:p>
        </p:txBody>
      </p:sp>
      <p:sp>
        <p:nvSpPr>
          <p:cNvPr id="117" name="TextBox 116">
            <a:extLst>
              <a:ext uri="{FF2B5EF4-FFF2-40B4-BE49-F238E27FC236}">
                <a16:creationId xmlns:a16="http://schemas.microsoft.com/office/drawing/2014/main" id="{6ED6270C-DDA7-4D17-82B3-9D50C1E61F60}"/>
              </a:ext>
            </a:extLst>
          </p:cNvPr>
          <p:cNvSpPr txBox="1"/>
          <p:nvPr/>
        </p:nvSpPr>
        <p:spPr>
          <a:xfrm>
            <a:off x="950050" y="5711278"/>
            <a:ext cx="19903665" cy="4832092"/>
          </a:xfrm>
          <a:prstGeom prst="rect">
            <a:avLst/>
          </a:prstGeom>
          <a:ln w="38100">
            <a:noFill/>
          </a:ln>
        </p:spPr>
        <p:style>
          <a:lnRef idx="2">
            <a:schemeClr val="accent3"/>
          </a:lnRef>
          <a:fillRef idx="1">
            <a:schemeClr val="lt1"/>
          </a:fillRef>
          <a:effectRef idx="0">
            <a:schemeClr val="accent3"/>
          </a:effectRef>
          <a:fontRef idx="minor">
            <a:schemeClr val="dk1"/>
          </a:fontRef>
        </p:style>
        <p:txBody>
          <a:bodyPr wrap="square" lIns="91440" tIns="45720" rIns="91440" bIns="45720" rtlCol="0" anchor="t">
            <a:spAutoFit/>
          </a:bodyPr>
          <a:lstStyle/>
          <a:p>
            <a:pPr algn="just"/>
            <a:r>
              <a:rPr lang="en-US" sz="4400"/>
              <a:t>Using data from the Supernova Cosmology Project, we found the Hubble constant to describe the expansion rate of the universe and aimed to determine the matter density of the universe. Using the calculated Hubble constant, we were able to prove the existence of dark energy in the universe and analyze an evolving dark energy parameter. The scientists who lead this advancing research were awarded a Nobel prize in 2011. This data has proved an accelerating universe and has pushed further research into the question of “what is dark energy?”</a:t>
            </a:r>
          </a:p>
        </p:txBody>
      </p:sp>
      <p:sp>
        <p:nvSpPr>
          <p:cNvPr id="86" name="object 19">
            <a:extLst>
              <a:ext uri="{FF2B5EF4-FFF2-40B4-BE49-F238E27FC236}">
                <a16:creationId xmlns:a16="http://schemas.microsoft.com/office/drawing/2014/main" id="{430AD87A-E0A2-4C3E-BD74-EADBA751CB6F}"/>
              </a:ext>
            </a:extLst>
          </p:cNvPr>
          <p:cNvSpPr/>
          <p:nvPr/>
        </p:nvSpPr>
        <p:spPr>
          <a:xfrm rot="5400000" flipH="1">
            <a:off x="21802188" y="-17288414"/>
            <a:ext cx="286825" cy="43434002"/>
          </a:xfrm>
          <a:custGeom>
            <a:avLst/>
            <a:gdLst/>
            <a:ahLst/>
            <a:cxnLst/>
            <a:rect l="l" t="t" r="r" b="b"/>
            <a:pathLst>
              <a:path h="9561227">
                <a:moveTo>
                  <a:pt x="0" y="0"/>
                </a:moveTo>
                <a:lnTo>
                  <a:pt x="0" y="9561227"/>
                </a:lnTo>
              </a:path>
            </a:pathLst>
          </a:custGeom>
          <a:ln w="127000" cmpd="sng">
            <a:solidFill>
              <a:schemeClr val="tx1"/>
            </a:solidFill>
            <a:prstDash val="solid"/>
          </a:ln>
        </p:spPr>
        <p:txBody>
          <a:bodyPr wrap="square" lIns="0" tIns="0" rIns="0" bIns="0" rtlCol="0">
            <a:spAutoFit/>
          </a:bodyPr>
          <a:lstStyle/>
          <a:p>
            <a:endParaRPr sz="8000"/>
          </a:p>
        </p:txBody>
      </p:sp>
      <p:sp>
        <p:nvSpPr>
          <p:cNvPr id="102" name="object 19">
            <a:extLst>
              <a:ext uri="{FF2B5EF4-FFF2-40B4-BE49-F238E27FC236}">
                <a16:creationId xmlns:a16="http://schemas.microsoft.com/office/drawing/2014/main" id="{D10F9159-6B6F-4400-8638-3658C807C01C}"/>
              </a:ext>
            </a:extLst>
          </p:cNvPr>
          <p:cNvSpPr/>
          <p:nvPr/>
        </p:nvSpPr>
        <p:spPr>
          <a:xfrm rot="16200000" flipH="1">
            <a:off x="9350137" y="2256040"/>
            <a:ext cx="2846941" cy="19903665"/>
          </a:xfrm>
          <a:custGeom>
            <a:avLst/>
            <a:gdLst/>
            <a:ahLst/>
            <a:cxnLst/>
            <a:rect l="l" t="t" r="r" b="b"/>
            <a:pathLst>
              <a:path h="9561227">
                <a:moveTo>
                  <a:pt x="0" y="0"/>
                </a:moveTo>
                <a:lnTo>
                  <a:pt x="0" y="9561227"/>
                </a:lnTo>
              </a:path>
            </a:pathLst>
          </a:custGeom>
          <a:ln w="127000" cmpd="sng">
            <a:solidFill>
              <a:schemeClr val="tx1">
                <a:lumMod val="50000"/>
                <a:lumOff val="50000"/>
              </a:schemeClr>
            </a:solidFill>
            <a:prstDash val="sysDot"/>
          </a:ln>
        </p:spPr>
        <p:txBody>
          <a:bodyPr wrap="square" lIns="0" tIns="0" rIns="0" bIns="0" rtlCol="0">
            <a:spAutoFit/>
          </a:bodyPr>
          <a:lstStyle/>
          <a:p>
            <a:endParaRPr sz="8000"/>
          </a:p>
        </p:txBody>
      </p:sp>
      <p:sp>
        <p:nvSpPr>
          <p:cNvPr id="103" name="object 19">
            <a:extLst>
              <a:ext uri="{FF2B5EF4-FFF2-40B4-BE49-F238E27FC236}">
                <a16:creationId xmlns:a16="http://schemas.microsoft.com/office/drawing/2014/main" id="{2FC5EB80-ACCC-412E-A1DA-9A944FECBC9A}"/>
              </a:ext>
            </a:extLst>
          </p:cNvPr>
          <p:cNvSpPr/>
          <p:nvPr/>
        </p:nvSpPr>
        <p:spPr>
          <a:xfrm rot="16200000" flipH="1">
            <a:off x="10785487" y="6037362"/>
            <a:ext cx="487625" cy="21272099"/>
          </a:xfrm>
          <a:custGeom>
            <a:avLst/>
            <a:gdLst/>
            <a:ahLst/>
            <a:cxnLst/>
            <a:rect l="l" t="t" r="r" b="b"/>
            <a:pathLst>
              <a:path h="9561227">
                <a:moveTo>
                  <a:pt x="0" y="0"/>
                </a:moveTo>
                <a:lnTo>
                  <a:pt x="0" y="9561227"/>
                </a:lnTo>
              </a:path>
            </a:pathLst>
          </a:custGeom>
          <a:ln w="127000" cmpd="sng">
            <a:solidFill>
              <a:schemeClr val="tx1">
                <a:lumMod val="50000"/>
                <a:lumOff val="50000"/>
              </a:schemeClr>
            </a:solidFill>
            <a:prstDash val="sysDot"/>
          </a:ln>
        </p:spPr>
        <p:txBody>
          <a:bodyPr wrap="square" lIns="0" tIns="0" rIns="0" bIns="0" rtlCol="0">
            <a:spAutoFit/>
          </a:bodyPr>
          <a:lstStyle/>
          <a:p>
            <a:endParaRPr sz="8000"/>
          </a:p>
        </p:txBody>
      </p:sp>
      <p:sp>
        <p:nvSpPr>
          <p:cNvPr id="104" name="object 19">
            <a:extLst>
              <a:ext uri="{FF2B5EF4-FFF2-40B4-BE49-F238E27FC236}">
                <a16:creationId xmlns:a16="http://schemas.microsoft.com/office/drawing/2014/main" id="{196541B0-387F-4FCA-B56D-A809AF381899}"/>
              </a:ext>
            </a:extLst>
          </p:cNvPr>
          <p:cNvSpPr/>
          <p:nvPr/>
        </p:nvSpPr>
        <p:spPr>
          <a:xfrm rot="16200000" flipH="1">
            <a:off x="10767436" y="10969839"/>
            <a:ext cx="594511" cy="21044707"/>
          </a:xfrm>
          <a:custGeom>
            <a:avLst/>
            <a:gdLst/>
            <a:ahLst/>
            <a:cxnLst/>
            <a:rect l="l" t="t" r="r" b="b"/>
            <a:pathLst>
              <a:path h="9561227">
                <a:moveTo>
                  <a:pt x="0" y="0"/>
                </a:moveTo>
                <a:lnTo>
                  <a:pt x="0" y="9561227"/>
                </a:lnTo>
              </a:path>
            </a:pathLst>
          </a:custGeom>
          <a:ln w="127000" cmpd="sng">
            <a:solidFill>
              <a:schemeClr val="tx1">
                <a:lumMod val="50000"/>
                <a:lumOff val="50000"/>
              </a:schemeClr>
            </a:solidFill>
            <a:prstDash val="sysDot"/>
          </a:ln>
        </p:spPr>
        <p:txBody>
          <a:bodyPr wrap="square" lIns="0" tIns="0" rIns="0" bIns="0" rtlCol="0">
            <a:spAutoFit/>
          </a:bodyPr>
          <a:lstStyle/>
          <a:p>
            <a:endParaRPr sz="8000"/>
          </a:p>
        </p:txBody>
      </p:sp>
      <p:sp>
        <p:nvSpPr>
          <p:cNvPr id="108" name="object 19">
            <a:extLst>
              <a:ext uri="{FF2B5EF4-FFF2-40B4-BE49-F238E27FC236}">
                <a16:creationId xmlns:a16="http://schemas.microsoft.com/office/drawing/2014/main" id="{E8223706-A2DA-4C50-992E-4BDC8CBF1026}"/>
              </a:ext>
            </a:extLst>
          </p:cNvPr>
          <p:cNvSpPr/>
          <p:nvPr/>
        </p:nvSpPr>
        <p:spPr>
          <a:xfrm rot="16200000" flipH="1">
            <a:off x="32535957" y="13943638"/>
            <a:ext cx="143478" cy="21635016"/>
          </a:xfrm>
          <a:custGeom>
            <a:avLst/>
            <a:gdLst/>
            <a:ahLst/>
            <a:cxnLst/>
            <a:rect l="l" t="t" r="r" b="b"/>
            <a:pathLst>
              <a:path h="9561227">
                <a:moveTo>
                  <a:pt x="0" y="0"/>
                </a:moveTo>
                <a:lnTo>
                  <a:pt x="0" y="9561227"/>
                </a:lnTo>
              </a:path>
            </a:pathLst>
          </a:custGeom>
          <a:ln w="127000" cmpd="sng">
            <a:solidFill>
              <a:schemeClr val="tx1">
                <a:lumMod val="50000"/>
                <a:lumOff val="50000"/>
              </a:schemeClr>
            </a:solidFill>
            <a:prstDash val="sysDot"/>
          </a:ln>
        </p:spPr>
        <p:txBody>
          <a:bodyPr wrap="square" lIns="0" tIns="0" rIns="0" bIns="0" rtlCol="0">
            <a:spAutoFit/>
          </a:bodyPr>
          <a:lstStyle/>
          <a:p>
            <a:endParaRPr sz="8000"/>
          </a:p>
        </p:txBody>
      </p:sp>
      <p:sp>
        <p:nvSpPr>
          <p:cNvPr id="19" name="object 19"/>
          <p:cNvSpPr/>
          <p:nvPr/>
        </p:nvSpPr>
        <p:spPr>
          <a:xfrm flipH="1">
            <a:off x="21541324" y="4655403"/>
            <a:ext cx="45719" cy="25681118"/>
          </a:xfrm>
          <a:custGeom>
            <a:avLst/>
            <a:gdLst/>
            <a:ahLst/>
            <a:cxnLst/>
            <a:rect l="l" t="t" r="r" b="b"/>
            <a:pathLst>
              <a:path h="9561227">
                <a:moveTo>
                  <a:pt x="0" y="0"/>
                </a:moveTo>
                <a:lnTo>
                  <a:pt x="0" y="9561227"/>
                </a:lnTo>
              </a:path>
            </a:pathLst>
          </a:custGeom>
          <a:ln w="127000" cmpd="sng">
            <a:solidFill>
              <a:schemeClr val="tx1"/>
            </a:solidFill>
            <a:prstDash val="solid"/>
          </a:ln>
        </p:spPr>
        <p:txBody>
          <a:bodyPr wrap="square" lIns="0" tIns="0" rIns="0" bIns="0" rtlCol="0">
            <a:spAutoFit/>
          </a:bodyPr>
          <a:lstStyle/>
          <a:p>
            <a:endParaRPr sz="8000"/>
          </a:p>
        </p:txBody>
      </p:sp>
      <p:sp>
        <p:nvSpPr>
          <p:cNvPr id="121" name="object 23">
            <a:extLst>
              <a:ext uri="{FF2B5EF4-FFF2-40B4-BE49-F238E27FC236}">
                <a16:creationId xmlns:a16="http://schemas.microsoft.com/office/drawing/2014/main" id="{B7E68D6C-998D-4C34-8568-0B75DD685CE5}"/>
              </a:ext>
            </a:extLst>
          </p:cNvPr>
          <p:cNvSpPr txBox="1"/>
          <p:nvPr/>
        </p:nvSpPr>
        <p:spPr>
          <a:xfrm>
            <a:off x="-1752952" y="10842335"/>
            <a:ext cx="12119494" cy="1015663"/>
          </a:xfrm>
          <a:prstGeom prst="rect">
            <a:avLst/>
          </a:prstGeom>
        </p:spPr>
        <p:txBody>
          <a:bodyPr vert="horz" wrap="square" lIns="0" tIns="0" rIns="0" bIns="0" rtlCol="0">
            <a:spAutoFit/>
          </a:bodyPr>
          <a:lstStyle/>
          <a:p>
            <a:pPr marL="27720" algn="ctr"/>
            <a:r>
              <a:rPr lang="en-US" sz="6600" b="1" spc="-10">
                <a:latin typeface="+mj-lt"/>
                <a:cs typeface="Arial"/>
              </a:rPr>
              <a:t>Type 1a Supernovae</a:t>
            </a:r>
            <a:endParaRPr lang="en-US" sz="6600">
              <a:latin typeface="+mj-lt"/>
              <a:cs typeface="Arial"/>
            </a:endParaRPr>
          </a:p>
        </p:txBody>
      </p:sp>
      <p:sp>
        <p:nvSpPr>
          <p:cNvPr id="122" name="TextBox 121">
            <a:extLst>
              <a:ext uri="{FF2B5EF4-FFF2-40B4-BE49-F238E27FC236}">
                <a16:creationId xmlns:a16="http://schemas.microsoft.com/office/drawing/2014/main" id="{E7CED04A-A2EA-4135-83F0-0D020D71ECBE}"/>
              </a:ext>
            </a:extLst>
          </p:cNvPr>
          <p:cNvSpPr txBox="1"/>
          <p:nvPr/>
        </p:nvSpPr>
        <p:spPr>
          <a:xfrm>
            <a:off x="1049982" y="11893453"/>
            <a:ext cx="19206484" cy="4154984"/>
          </a:xfrm>
          <a:prstGeom prst="rect">
            <a:avLst/>
          </a:prstGeom>
          <a:ln w="38100">
            <a:noFill/>
          </a:ln>
        </p:spPr>
        <p:style>
          <a:lnRef idx="2">
            <a:schemeClr val="accent3"/>
          </a:lnRef>
          <a:fillRef idx="1">
            <a:schemeClr val="lt1"/>
          </a:fillRef>
          <a:effectRef idx="0">
            <a:schemeClr val="accent3"/>
          </a:effectRef>
          <a:fontRef idx="minor">
            <a:schemeClr val="dk1"/>
          </a:fontRef>
        </p:style>
        <p:txBody>
          <a:bodyPr wrap="square" lIns="91440" tIns="45720" rIns="91440" bIns="45720" rtlCol="0" anchor="t">
            <a:spAutoFit/>
          </a:bodyPr>
          <a:lstStyle/>
          <a:p>
            <a:pPr algn="just"/>
            <a:r>
              <a:rPr lang="en-US" sz="4400"/>
              <a:t>This supernovae consists of a white dwarf star and a companion star. When orbiting each other, they become increasingly unstable and eventually the white dwarf will exceed its critical mass, creating an explosion. We used Type 1a Supernovae in our work because they have a fixed brightness which makes it easier to locate and determine the distance of. As part of this project, we analyzed their redshift to determine how the distances between each supernova change throughout time.</a:t>
            </a:r>
            <a:endParaRPr lang="en-US" sz="4400">
              <a:ea typeface="Calibri"/>
              <a:cs typeface="Calibri"/>
            </a:endParaRPr>
          </a:p>
        </p:txBody>
      </p:sp>
      <p:sp>
        <p:nvSpPr>
          <p:cNvPr id="125" name="object 23">
            <a:extLst>
              <a:ext uri="{FF2B5EF4-FFF2-40B4-BE49-F238E27FC236}">
                <a16:creationId xmlns:a16="http://schemas.microsoft.com/office/drawing/2014/main" id="{02480B5E-90A8-4821-AAC7-66DC27D7A3F4}"/>
              </a:ext>
            </a:extLst>
          </p:cNvPr>
          <p:cNvSpPr txBox="1"/>
          <p:nvPr/>
        </p:nvSpPr>
        <p:spPr>
          <a:xfrm>
            <a:off x="-518243" y="16489713"/>
            <a:ext cx="12119494" cy="1015663"/>
          </a:xfrm>
          <a:prstGeom prst="rect">
            <a:avLst/>
          </a:prstGeom>
        </p:spPr>
        <p:txBody>
          <a:bodyPr vert="horz" wrap="square" lIns="0" tIns="0" rIns="0" bIns="0" rtlCol="0">
            <a:spAutoFit/>
          </a:bodyPr>
          <a:lstStyle/>
          <a:p>
            <a:pPr marL="27720" algn="ctr"/>
            <a:r>
              <a:rPr lang="en-US" sz="6600" b="1" spc="-10">
                <a:latin typeface="+mj-lt"/>
                <a:cs typeface="Arial"/>
              </a:rPr>
              <a:t>Components of the Universe</a:t>
            </a:r>
            <a:endParaRPr lang="en-US" sz="6600">
              <a:latin typeface="+mj-lt"/>
              <a:cs typeface="Arial"/>
            </a:endParaRPr>
          </a:p>
        </p:txBody>
      </p:sp>
      <p:sp>
        <p:nvSpPr>
          <p:cNvPr id="128" name="object 23">
            <a:extLst>
              <a:ext uri="{FF2B5EF4-FFF2-40B4-BE49-F238E27FC236}">
                <a16:creationId xmlns:a16="http://schemas.microsoft.com/office/drawing/2014/main" id="{DDE866BC-CF32-4A50-94E7-CAFB8BEF1984}"/>
              </a:ext>
            </a:extLst>
          </p:cNvPr>
          <p:cNvSpPr txBox="1"/>
          <p:nvPr/>
        </p:nvSpPr>
        <p:spPr>
          <a:xfrm>
            <a:off x="-1607953" y="21477213"/>
            <a:ext cx="12119494" cy="1015663"/>
          </a:xfrm>
          <a:prstGeom prst="rect">
            <a:avLst/>
          </a:prstGeom>
        </p:spPr>
        <p:txBody>
          <a:bodyPr vert="horz" wrap="square" lIns="0" tIns="0" rIns="0" bIns="0" rtlCol="0">
            <a:spAutoFit/>
          </a:bodyPr>
          <a:lstStyle/>
          <a:p>
            <a:pPr marL="27720" algn="ctr"/>
            <a:r>
              <a:rPr lang="en-US" sz="6600" b="1" spc="-10">
                <a:latin typeface="+mj-lt"/>
                <a:cs typeface="Arial"/>
              </a:rPr>
              <a:t>Evolving Dark Energy?</a:t>
            </a:r>
            <a:endParaRPr lang="en-US" sz="6600">
              <a:latin typeface="+mj-lt"/>
              <a:cs typeface="Arial"/>
            </a:endParaRPr>
          </a:p>
        </p:txBody>
      </p:sp>
      <p:sp>
        <p:nvSpPr>
          <p:cNvPr id="131" name="object 23">
            <a:extLst>
              <a:ext uri="{FF2B5EF4-FFF2-40B4-BE49-F238E27FC236}">
                <a16:creationId xmlns:a16="http://schemas.microsoft.com/office/drawing/2014/main" id="{1B886A0C-5C4B-4637-AF1A-B98968DE52EC}"/>
              </a:ext>
            </a:extLst>
          </p:cNvPr>
          <p:cNvSpPr txBox="1"/>
          <p:nvPr/>
        </p:nvSpPr>
        <p:spPr>
          <a:xfrm>
            <a:off x="17983200" y="4774315"/>
            <a:ext cx="12119494" cy="1015663"/>
          </a:xfrm>
          <a:prstGeom prst="rect">
            <a:avLst/>
          </a:prstGeom>
        </p:spPr>
        <p:txBody>
          <a:bodyPr vert="horz" wrap="square" lIns="0" tIns="0" rIns="0" bIns="0" rtlCol="0">
            <a:spAutoFit/>
          </a:bodyPr>
          <a:lstStyle/>
          <a:p>
            <a:pPr marL="27720" algn="ctr"/>
            <a:r>
              <a:rPr lang="en-US" sz="6600" b="1" spc="-10">
                <a:latin typeface="+mj-lt"/>
                <a:cs typeface="Arial"/>
              </a:rPr>
              <a:t>Our Results</a:t>
            </a:r>
            <a:endParaRPr lang="en-US" sz="6600">
              <a:latin typeface="+mj-lt"/>
              <a:cs typeface="Arial"/>
            </a:endParaRPr>
          </a:p>
        </p:txBody>
      </p:sp>
      <p:sp>
        <p:nvSpPr>
          <p:cNvPr id="138" name="object 23">
            <a:extLst>
              <a:ext uri="{FF2B5EF4-FFF2-40B4-BE49-F238E27FC236}">
                <a16:creationId xmlns:a16="http://schemas.microsoft.com/office/drawing/2014/main" id="{B07DAFA3-B768-466A-BA52-1E0EB2F1B4D3}"/>
              </a:ext>
            </a:extLst>
          </p:cNvPr>
          <p:cNvSpPr txBox="1"/>
          <p:nvPr/>
        </p:nvSpPr>
        <p:spPr>
          <a:xfrm>
            <a:off x="21538495" y="24767527"/>
            <a:ext cx="12119494" cy="1015663"/>
          </a:xfrm>
          <a:prstGeom prst="rect">
            <a:avLst/>
          </a:prstGeom>
        </p:spPr>
        <p:txBody>
          <a:bodyPr vert="horz" wrap="square" lIns="0" tIns="0" rIns="0" bIns="0" rtlCol="0">
            <a:spAutoFit/>
          </a:bodyPr>
          <a:lstStyle/>
          <a:p>
            <a:pPr marL="27720" algn="ctr"/>
            <a:r>
              <a:rPr lang="en-US" sz="6600" b="1" spc="-10">
                <a:latin typeface="+mj-lt"/>
                <a:cs typeface="Arial"/>
              </a:rPr>
              <a:t>Bibliography/</a:t>
            </a:r>
            <a:r>
              <a:rPr lang="en-US" sz="6600" b="1" spc="-76">
                <a:solidFill>
                  <a:srgbClr val="231F20"/>
                </a:solidFill>
                <a:latin typeface="+mj-lt"/>
                <a:cs typeface="Arial"/>
              </a:rPr>
              <a:t> Acknowledgements</a:t>
            </a:r>
            <a:endParaRPr lang="en-US" sz="6600">
              <a:latin typeface="+mj-lt"/>
              <a:cs typeface="Arial"/>
            </a:endParaRPr>
          </a:p>
        </p:txBody>
      </p:sp>
      <p:sp>
        <p:nvSpPr>
          <p:cNvPr id="229" name="Rectangle 228">
            <a:extLst>
              <a:ext uri="{FF2B5EF4-FFF2-40B4-BE49-F238E27FC236}">
                <a16:creationId xmlns:a16="http://schemas.microsoft.com/office/drawing/2014/main" id="{0169C8D8-6AC3-4B0F-BB1A-F6453CE29355}"/>
              </a:ext>
            </a:extLst>
          </p:cNvPr>
          <p:cNvSpPr/>
          <p:nvPr/>
        </p:nvSpPr>
        <p:spPr>
          <a:xfrm>
            <a:off x="204123" y="30859962"/>
            <a:ext cx="43417366" cy="2299608"/>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8" name="Picture 227" descr="A close up of a sign&#10;&#10;Description automatically generated">
            <a:extLst>
              <a:ext uri="{FF2B5EF4-FFF2-40B4-BE49-F238E27FC236}">
                <a16:creationId xmlns:a16="http://schemas.microsoft.com/office/drawing/2014/main" id="{BA750442-4485-44A8-AD58-C65708C433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05376" y="30854970"/>
            <a:ext cx="11466239" cy="2146810"/>
          </a:xfrm>
          <a:prstGeom prst="rect">
            <a:avLst/>
          </a:prstGeom>
        </p:spPr>
      </p:pic>
      <p:sp>
        <p:nvSpPr>
          <p:cNvPr id="8" name="Rectangle 7">
            <a:extLst>
              <a:ext uri="{FF2B5EF4-FFF2-40B4-BE49-F238E27FC236}">
                <a16:creationId xmlns:a16="http://schemas.microsoft.com/office/drawing/2014/main" id="{54FFF3A9-3570-4492-800E-2C7829D9093D}"/>
              </a:ext>
            </a:extLst>
          </p:cNvPr>
          <p:cNvSpPr/>
          <p:nvPr/>
        </p:nvSpPr>
        <p:spPr>
          <a:xfrm>
            <a:off x="228600" y="228600"/>
            <a:ext cx="43434000" cy="32461200"/>
          </a:xfrm>
          <a:prstGeom prst="rect">
            <a:avLst/>
          </a:prstGeom>
          <a:noFill/>
          <a:ln w="117475">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0" y="30100921"/>
            <a:ext cx="8501868" cy="2817479"/>
          </a:xfrm>
          <a:prstGeom prst="rect">
            <a:avLst/>
          </a:prstGeom>
        </p:spPr>
      </p:pic>
      <p:pic>
        <p:nvPicPr>
          <p:cNvPr id="234" name="Picture 233" descr="A close up of a sign&#10;&#10;Description automatically generated">
            <a:extLst>
              <a:ext uri="{FF2B5EF4-FFF2-40B4-BE49-F238E27FC236}">
                <a16:creationId xmlns:a16="http://schemas.microsoft.com/office/drawing/2014/main" id="{0CCA85E4-10C9-4901-8C36-B42008D557A4}"/>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38463711" y="316200"/>
            <a:ext cx="3972519" cy="3972519"/>
          </a:xfrm>
          <a:prstGeom prst="rect">
            <a:avLst/>
          </a:prstGeom>
        </p:spPr>
      </p:pic>
      <p:pic>
        <p:nvPicPr>
          <p:cNvPr id="3" name="Picture 2">
            <a:extLst>
              <a:ext uri="{FF2B5EF4-FFF2-40B4-BE49-F238E27FC236}">
                <a16:creationId xmlns:a16="http://schemas.microsoft.com/office/drawing/2014/main" id="{F8CD7822-863B-F00B-9021-C3A3DF5D1A69}"/>
              </a:ext>
            </a:extLst>
          </p:cNvPr>
          <p:cNvPicPr>
            <a:picLocks noChangeAspect="1"/>
          </p:cNvPicPr>
          <p:nvPr/>
        </p:nvPicPr>
        <p:blipFill>
          <a:blip r:embed="rId7"/>
          <a:stretch>
            <a:fillRect/>
          </a:stretch>
        </p:blipFill>
        <p:spPr>
          <a:xfrm>
            <a:off x="21875442" y="17301753"/>
            <a:ext cx="7221005" cy="7221005"/>
          </a:xfrm>
          <a:prstGeom prst="rect">
            <a:avLst/>
          </a:prstGeom>
        </p:spPr>
      </p:pic>
      <p:pic>
        <p:nvPicPr>
          <p:cNvPr id="1026" name="Picture 2">
            <a:extLst>
              <a:ext uri="{FF2B5EF4-FFF2-40B4-BE49-F238E27FC236}">
                <a16:creationId xmlns:a16="http://schemas.microsoft.com/office/drawing/2014/main" id="{F4A805E5-2D56-8C7E-1E67-C4655C71C76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16624" y="5369944"/>
            <a:ext cx="7150100" cy="5486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C6FA67D-3921-7493-AE35-809130F9419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908430" y="11261729"/>
            <a:ext cx="6527800" cy="64008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NASA SVS | Content of the Universe Pie Chart">
            <a:extLst>
              <a:ext uri="{FF2B5EF4-FFF2-40B4-BE49-F238E27FC236}">
                <a16:creationId xmlns:a16="http://schemas.microsoft.com/office/drawing/2014/main" id="{60C4AF5C-DCDD-7E90-E60E-EA11B3F7835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995964" y="16761828"/>
            <a:ext cx="5123964" cy="288223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mathematical equation with numbers and symbols&#10;&#10;Description automatically generated">
            <a:extLst>
              <a:ext uri="{FF2B5EF4-FFF2-40B4-BE49-F238E27FC236}">
                <a16:creationId xmlns:a16="http://schemas.microsoft.com/office/drawing/2014/main" id="{ADA12650-A144-ED4E-19BF-D5B5C92ECD70}"/>
              </a:ext>
            </a:extLst>
          </p:cNvPr>
          <p:cNvPicPr>
            <a:picLocks noChangeAspect="1"/>
          </p:cNvPicPr>
          <p:nvPr/>
        </p:nvPicPr>
        <p:blipFill rotWithShape="1">
          <a:blip r:embed="rId11">
            <a:extLst>
              <a:ext uri="{28A0092B-C50C-407E-A947-70E740481C1C}">
                <a14:useLocalDpi xmlns:a14="http://schemas.microsoft.com/office/drawing/2010/main" val="0"/>
              </a:ext>
            </a:extLst>
          </a:blip>
          <a:srcRect l="4480" t="13734" r="3417" b="10724"/>
          <a:stretch/>
        </p:blipFill>
        <p:spPr>
          <a:xfrm>
            <a:off x="13539244" y="19825453"/>
            <a:ext cx="7158693" cy="1134162"/>
          </a:xfrm>
          <a:prstGeom prst="rect">
            <a:avLst/>
          </a:prstGeom>
        </p:spPr>
      </p:pic>
      <p:sp>
        <p:nvSpPr>
          <p:cNvPr id="9" name="TextBox 8">
            <a:extLst>
              <a:ext uri="{FF2B5EF4-FFF2-40B4-BE49-F238E27FC236}">
                <a16:creationId xmlns:a16="http://schemas.microsoft.com/office/drawing/2014/main" id="{C00C2BF4-DC5C-771D-9BCF-8FA0E093D9F9}"/>
              </a:ext>
            </a:extLst>
          </p:cNvPr>
          <p:cNvSpPr txBox="1"/>
          <p:nvPr/>
        </p:nvSpPr>
        <p:spPr>
          <a:xfrm>
            <a:off x="626130" y="17430696"/>
            <a:ext cx="12948439" cy="3785652"/>
          </a:xfrm>
          <a:prstGeom prst="rect">
            <a:avLst/>
          </a:prstGeom>
          <a:noFill/>
        </p:spPr>
        <p:txBody>
          <a:bodyPr wrap="square" rtlCol="0">
            <a:spAutoFit/>
          </a:bodyPr>
          <a:lstStyle/>
          <a:p>
            <a:r>
              <a:rPr lang="en-US"/>
              <a:t>The universe is composed of radiation, ordinary matter, dark matter, and dark energy but is dominated by matter density and dark energy density parameters. With a calculated curvature (k) value of 0, the universe is also presumed to be flat and infinite. This model of the universe is known as Lambda CDM Cosmology.</a:t>
            </a:r>
          </a:p>
        </p:txBody>
      </p:sp>
      <p:pic>
        <p:nvPicPr>
          <p:cNvPr id="7" name="Picture 6" descr="A black symbols with a plus and w&#10;&#10;Description automatically generated">
            <a:extLst>
              <a:ext uri="{FF2B5EF4-FFF2-40B4-BE49-F238E27FC236}">
                <a16:creationId xmlns:a16="http://schemas.microsoft.com/office/drawing/2014/main" id="{12ED31BE-3B18-A357-B0DA-367E04EDF7B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127153" y="25810764"/>
            <a:ext cx="5831152" cy="1114780"/>
          </a:xfrm>
          <a:prstGeom prst="rect">
            <a:avLst/>
          </a:prstGeom>
        </p:spPr>
      </p:pic>
      <p:sp>
        <p:nvSpPr>
          <p:cNvPr id="10" name="TextBox 9">
            <a:extLst>
              <a:ext uri="{FF2B5EF4-FFF2-40B4-BE49-F238E27FC236}">
                <a16:creationId xmlns:a16="http://schemas.microsoft.com/office/drawing/2014/main" id="{FDF388D0-5F18-9EFF-3446-D68165CF32FE}"/>
              </a:ext>
            </a:extLst>
          </p:cNvPr>
          <p:cNvSpPr txBox="1"/>
          <p:nvPr/>
        </p:nvSpPr>
        <p:spPr>
          <a:xfrm>
            <a:off x="950050" y="22822283"/>
            <a:ext cx="18490348" cy="6247864"/>
          </a:xfrm>
          <a:prstGeom prst="rect">
            <a:avLst/>
          </a:prstGeom>
          <a:noFill/>
        </p:spPr>
        <p:txBody>
          <a:bodyPr wrap="square" rtlCol="0">
            <a:spAutoFit/>
          </a:bodyPr>
          <a:lstStyle/>
          <a:p>
            <a:r>
              <a:rPr lang="en-US"/>
              <a:t>In the reworked Friedmans equation shown above (1) we can recognize the dark energy density parameter as      . It exists in the equation as a constant value. However, by analyzing the parameter as a non-constant value we effectively change the evolution of the universe. The equation of state of dark energy can be changed to hold an expansion scale of a = 1  along with a cosmological constant of w = -1 to get the following equation of state parameter                                                    .</a:t>
            </a:r>
          </a:p>
          <a:p>
            <a:endParaRPr lang="en-US"/>
          </a:p>
          <a:p>
            <a:r>
              <a:rPr lang="en-US"/>
              <a:t>DESI is able to measure the cosmic factor scale by using the Baryonic Acoustic Oscillation scale. Results from DESI have pointed to a model which supports evolving dark every with                   and  </a:t>
            </a:r>
          </a:p>
        </p:txBody>
      </p:sp>
      <p:pic>
        <p:nvPicPr>
          <p:cNvPr id="12" name="Picture 11" descr="A black letter with a white background&#10;&#10;Description automatically generated">
            <a:extLst>
              <a:ext uri="{FF2B5EF4-FFF2-40B4-BE49-F238E27FC236}">
                <a16:creationId xmlns:a16="http://schemas.microsoft.com/office/drawing/2014/main" id="{15E9FD9C-A5F4-CF67-13B5-97CD4CD052B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459087" y="23544963"/>
            <a:ext cx="584200" cy="558800"/>
          </a:xfrm>
          <a:prstGeom prst="rect">
            <a:avLst/>
          </a:prstGeom>
        </p:spPr>
      </p:pic>
      <p:sp>
        <p:nvSpPr>
          <p:cNvPr id="13" name="TextBox 12">
            <a:extLst>
              <a:ext uri="{FF2B5EF4-FFF2-40B4-BE49-F238E27FC236}">
                <a16:creationId xmlns:a16="http://schemas.microsoft.com/office/drawing/2014/main" id="{5A837C0D-2A90-6B80-7F90-AB4F95EC378D}"/>
              </a:ext>
            </a:extLst>
          </p:cNvPr>
          <p:cNvSpPr txBox="1"/>
          <p:nvPr/>
        </p:nvSpPr>
        <p:spPr>
          <a:xfrm>
            <a:off x="13009147" y="20124508"/>
            <a:ext cx="1021660" cy="523220"/>
          </a:xfrm>
          <a:prstGeom prst="rect">
            <a:avLst/>
          </a:prstGeom>
          <a:noFill/>
        </p:spPr>
        <p:txBody>
          <a:bodyPr wrap="square" rtlCol="0">
            <a:spAutoFit/>
          </a:bodyPr>
          <a:lstStyle/>
          <a:p>
            <a:r>
              <a:rPr lang="en-US" sz="2800"/>
              <a:t>(1)</a:t>
            </a:r>
          </a:p>
        </p:txBody>
      </p:sp>
      <p:pic>
        <p:nvPicPr>
          <p:cNvPr id="15" name="Picture 14" descr="A black arrow pointing to the right&#10;&#10;Description automatically generated">
            <a:extLst>
              <a:ext uri="{FF2B5EF4-FFF2-40B4-BE49-F238E27FC236}">
                <a16:creationId xmlns:a16="http://schemas.microsoft.com/office/drawing/2014/main" id="{21E59158-7240-DC29-F92A-CF7678212692}"/>
              </a:ext>
            </a:extLst>
          </p:cNvPr>
          <p:cNvPicPr>
            <a:picLocks noChangeAspect="1"/>
          </p:cNvPicPr>
          <p:nvPr/>
        </p:nvPicPr>
        <p:blipFill rotWithShape="1">
          <a:blip r:embed="rId14">
            <a:extLst>
              <a:ext uri="{28A0092B-C50C-407E-A947-70E740481C1C}">
                <a14:useLocalDpi xmlns:a14="http://schemas.microsoft.com/office/drawing/2010/main" val="0"/>
              </a:ext>
            </a:extLst>
          </a:blip>
          <a:srcRect t="10175" b="16686"/>
          <a:stretch/>
        </p:blipFill>
        <p:spPr>
          <a:xfrm>
            <a:off x="2005781" y="28506790"/>
            <a:ext cx="2067961" cy="447569"/>
          </a:xfrm>
          <a:prstGeom prst="rect">
            <a:avLst/>
          </a:prstGeom>
        </p:spPr>
      </p:pic>
      <p:pic>
        <p:nvPicPr>
          <p:cNvPr id="17" name="Picture 16" descr="A black arrow and a black arrow&#10;&#10;Description automatically generated">
            <a:extLst>
              <a:ext uri="{FF2B5EF4-FFF2-40B4-BE49-F238E27FC236}">
                <a16:creationId xmlns:a16="http://schemas.microsoft.com/office/drawing/2014/main" id="{10C57ACA-939E-AFED-5157-3A163C0A0E6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129473" y="28444684"/>
            <a:ext cx="1696200" cy="486736"/>
          </a:xfrm>
          <a:prstGeom prst="rect">
            <a:avLst/>
          </a:prstGeom>
        </p:spPr>
      </p:pic>
      <p:sp>
        <p:nvSpPr>
          <p:cNvPr id="18" name="TextBox 17">
            <a:extLst>
              <a:ext uri="{FF2B5EF4-FFF2-40B4-BE49-F238E27FC236}">
                <a16:creationId xmlns:a16="http://schemas.microsoft.com/office/drawing/2014/main" id="{B6EE68CA-66AE-5D48-11D0-8FBB6C929408}"/>
              </a:ext>
            </a:extLst>
          </p:cNvPr>
          <p:cNvSpPr txBox="1"/>
          <p:nvPr/>
        </p:nvSpPr>
        <p:spPr>
          <a:xfrm>
            <a:off x="21912806" y="5992856"/>
            <a:ext cx="12605794" cy="3170099"/>
          </a:xfrm>
          <a:prstGeom prst="rect">
            <a:avLst/>
          </a:prstGeom>
          <a:noFill/>
        </p:spPr>
        <p:txBody>
          <a:bodyPr wrap="square" rtlCol="0">
            <a:spAutoFit/>
          </a:bodyPr>
          <a:lstStyle/>
          <a:p>
            <a:r>
              <a:rPr lang="en-US"/>
              <a:t> By using data from the Supernova Cosmology Project, we were able to fit the</a:t>
            </a:r>
            <a:r>
              <a:rPr lang="en-US" sz="4000"/>
              <a:t> data to model with a minimum chi ^2  matter density parameter of                     leaving a 70% dark energy density parameter. In comparison to a 0% dark energy model, we can see that it does not fit the data well. </a:t>
            </a:r>
          </a:p>
        </p:txBody>
      </p:sp>
      <p:pic>
        <p:nvPicPr>
          <p:cNvPr id="21" name="Picture 20">
            <a:extLst>
              <a:ext uri="{FF2B5EF4-FFF2-40B4-BE49-F238E27FC236}">
                <a16:creationId xmlns:a16="http://schemas.microsoft.com/office/drawing/2014/main" id="{9DCF9E72-D18D-6B3B-397E-473A39D80BE0}"/>
              </a:ext>
            </a:extLst>
          </p:cNvPr>
          <p:cNvPicPr>
            <a:picLocks noChangeAspect="1"/>
          </p:cNvPicPr>
          <p:nvPr/>
        </p:nvPicPr>
        <p:blipFill>
          <a:blip r:embed="rId16"/>
          <a:stretch>
            <a:fillRect/>
          </a:stretch>
        </p:blipFill>
        <p:spPr>
          <a:xfrm>
            <a:off x="27985493" y="7268805"/>
            <a:ext cx="2117201" cy="691675"/>
          </a:xfrm>
          <a:prstGeom prst="rect">
            <a:avLst/>
          </a:prstGeom>
        </p:spPr>
      </p:pic>
      <p:sp>
        <p:nvSpPr>
          <p:cNvPr id="22" name="TextBox 21">
            <a:extLst>
              <a:ext uri="{FF2B5EF4-FFF2-40B4-BE49-F238E27FC236}">
                <a16:creationId xmlns:a16="http://schemas.microsoft.com/office/drawing/2014/main" id="{A58B9588-DDC3-BCEB-5C49-EE70071919C4}"/>
              </a:ext>
            </a:extLst>
          </p:cNvPr>
          <p:cNvSpPr txBox="1"/>
          <p:nvPr/>
        </p:nvSpPr>
        <p:spPr>
          <a:xfrm>
            <a:off x="22199314" y="11275091"/>
            <a:ext cx="12957861" cy="4401205"/>
          </a:xfrm>
          <a:prstGeom prst="rect">
            <a:avLst/>
          </a:prstGeom>
          <a:noFill/>
        </p:spPr>
        <p:txBody>
          <a:bodyPr wrap="square" rtlCol="0">
            <a:spAutoFit/>
          </a:bodyPr>
          <a:lstStyle/>
          <a:p>
            <a:r>
              <a:rPr lang="en-US"/>
              <a:t>To get more accurate errors and learn the method we used MCMC to do a parameter estimation that produces maximum likelihood estimates of 0.268 and 70.031 for          and H0. Plot 2 shows the best fitting parameters as a result of MCMC whilst assuming constant dark energy density. This data shows an H0 value of      70 in a universe that contains dark energy and an           value of 0.3. </a:t>
            </a:r>
          </a:p>
        </p:txBody>
      </p:sp>
      <p:pic>
        <p:nvPicPr>
          <p:cNvPr id="24" name="Picture 23" descr="A set of symbols of water and lightning&#10;&#10;Description automatically generated with medium confidence">
            <a:extLst>
              <a:ext uri="{FF2B5EF4-FFF2-40B4-BE49-F238E27FC236}">
                <a16:creationId xmlns:a16="http://schemas.microsoft.com/office/drawing/2014/main" id="{F883EF45-1564-E472-2364-54677D4C1924}"/>
              </a:ext>
            </a:extLst>
          </p:cNvPr>
          <p:cNvPicPr>
            <a:picLocks noChangeAspect="1"/>
          </p:cNvPicPr>
          <p:nvPr/>
        </p:nvPicPr>
        <p:blipFill rotWithShape="1">
          <a:blip r:embed="rId17">
            <a:extLst>
              <a:ext uri="{28A0092B-C50C-407E-A947-70E740481C1C}">
                <a14:useLocalDpi xmlns:a14="http://schemas.microsoft.com/office/drawing/2010/main" val="0"/>
              </a:ext>
            </a:extLst>
          </a:blip>
          <a:srcRect l="38294" r="34753"/>
          <a:stretch/>
        </p:blipFill>
        <p:spPr>
          <a:xfrm>
            <a:off x="26754478" y="14381170"/>
            <a:ext cx="517284" cy="626977"/>
          </a:xfrm>
          <a:prstGeom prst="rect">
            <a:avLst/>
          </a:prstGeom>
        </p:spPr>
      </p:pic>
      <p:pic>
        <p:nvPicPr>
          <p:cNvPr id="26" name="Picture 25" descr="A set of symbols of water and lightning&#10;&#10;Description automatically generated with medium confidence">
            <a:extLst>
              <a:ext uri="{FF2B5EF4-FFF2-40B4-BE49-F238E27FC236}">
                <a16:creationId xmlns:a16="http://schemas.microsoft.com/office/drawing/2014/main" id="{0F356E79-2C15-7C08-33F3-21F008680DF9}"/>
              </a:ext>
            </a:extLst>
          </p:cNvPr>
          <p:cNvPicPr>
            <a:picLocks noChangeAspect="1"/>
          </p:cNvPicPr>
          <p:nvPr/>
        </p:nvPicPr>
        <p:blipFill rotWithShape="1">
          <a:blip r:embed="rId17">
            <a:extLst>
              <a:ext uri="{28A0092B-C50C-407E-A947-70E740481C1C}">
                <a14:useLocalDpi xmlns:a14="http://schemas.microsoft.com/office/drawing/2010/main" val="0"/>
              </a:ext>
            </a:extLst>
          </a:blip>
          <a:srcRect r="59988" b="10275"/>
          <a:stretch/>
        </p:blipFill>
        <p:spPr>
          <a:xfrm>
            <a:off x="31523436" y="12488881"/>
            <a:ext cx="930606" cy="681758"/>
          </a:xfrm>
          <a:prstGeom prst="rect">
            <a:avLst/>
          </a:prstGeom>
        </p:spPr>
      </p:pic>
      <p:pic>
        <p:nvPicPr>
          <p:cNvPr id="27" name="Picture 26" descr="A set of symbols of water and lightning&#10;&#10;Description automatically generated with medium confidence">
            <a:extLst>
              <a:ext uri="{FF2B5EF4-FFF2-40B4-BE49-F238E27FC236}">
                <a16:creationId xmlns:a16="http://schemas.microsoft.com/office/drawing/2014/main" id="{7DC2D7B1-D08F-85EF-EB4D-A2C37FC9CE0B}"/>
              </a:ext>
            </a:extLst>
          </p:cNvPr>
          <p:cNvPicPr>
            <a:picLocks noChangeAspect="1"/>
          </p:cNvPicPr>
          <p:nvPr/>
        </p:nvPicPr>
        <p:blipFill rotWithShape="1">
          <a:blip r:embed="rId17">
            <a:extLst>
              <a:ext uri="{28A0092B-C50C-407E-A947-70E740481C1C}">
                <a14:useLocalDpi xmlns:a14="http://schemas.microsoft.com/office/drawing/2010/main" val="0"/>
              </a:ext>
            </a:extLst>
          </a:blip>
          <a:srcRect r="59988" b="10275"/>
          <a:stretch/>
        </p:blipFill>
        <p:spPr>
          <a:xfrm>
            <a:off x="25394283" y="14898848"/>
            <a:ext cx="984567" cy="721290"/>
          </a:xfrm>
          <a:prstGeom prst="rect">
            <a:avLst/>
          </a:prstGeom>
        </p:spPr>
      </p:pic>
      <p:sp>
        <p:nvSpPr>
          <p:cNvPr id="29" name="TextBox 28">
            <a:extLst>
              <a:ext uri="{FF2B5EF4-FFF2-40B4-BE49-F238E27FC236}">
                <a16:creationId xmlns:a16="http://schemas.microsoft.com/office/drawing/2014/main" id="{A9B372F8-5386-B4D2-33F2-E2E80B7F4626}"/>
              </a:ext>
            </a:extLst>
          </p:cNvPr>
          <p:cNvSpPr txBox="1"/>
          <p:nvPr/>
        </p:nvSpPr>
        <p:spPr>
          <a:xfrm>
            <a:off x="26134128" y="17569426"/>
            <a:ext cx="14105794" cy="2554545"/>
          </a:xfrm>
          <a:prstGeom prst="rect">
            <a:avLst/>
          </a:prstGeom>
          <a:noFill/>
        </p:spPr>
        <p:txBody>
          <a:bodyPr wrap="square" rtlCol="0">
            <a:spAutoFit/>
          </a:bodyPr>
          <a:lstStyle/>
          <a:p>
            <a:r>
              <a:rPr lang="en-US"/>
              <a:t>By introducing a W0 and </a:t>
            </a:r>
            <a:r>
              <a:rPr lang="en-US" err="1"/>
              <a:t>Wa</a:t>
            </a:r>
            <a:r>
              <a:rPr lang="en-US"/>
              <a:t> parameter, we used MCMC to do a parameter estimation assuming evolving dark energy. We found similar maximum likelihoods and a w0 value equal to -1 and a </a:t>
            </a:r>
            <a:r>
              <a:rPr lang="en-US" err="1"/>
              <a:t>Wa</a:t>
            </a:r>
            <a:r>
              <a:rPr lang="en-US"/>
              <a:t> value equal to 0.145. However, plot 3 shows that when assuming</a:t>
            </a:r>
          </a:p>
        </p:txBody>
      </p:sp>
      <p:sp>
        <p:nvSpPr>
          <p:cNvPr id="30" name="TextBox 29">
            <a:extLst>
              <a:ext uri="{FF2B5EF4-FFF2-40B4-BE49-F238E27FC236}">
                <a16:creationId xmlns:a16="http://schemas.microsoft.com/office/drawing/2014/main" id="{34B8EF54-BE15-6731-A09D-194E2D900616}"/>
              </a:ext>
            </a:extLst>
          </p:cNvPr>
          <p:cNvSpPr txBox="1"/>
          <p:nvPr/>
        </p:nvSpPr>
        <p:spPr>
          <a:xfrm>
            <a:off x="28017431" y="19988410"/>
            <a:ext cx="13629030" cy="1938992"/>
          </a:xfrm>
          <a:prstGeom prst="rect">
            <a:avLst/>
          </a:prstGeom>
          <a:noFill/>
        </p:spPr>
        <p:txBody>
          <a:bodyPr wrap="square" rtlCol="0">
            <a:spAutoFit/>
          </a:bodyPr>
          <a:lstStyle/>
          <a:p>
            <a:r>
              <a:rPr lang="en-US"/>
              <a:t>evolving dark energy, we do not get parameters that fit the data well. The supernova data is not strong enough to distinguish evolving dark energy.</a:t>
            </a:r>
          </a:p>
        </p:txBody>
      </p:sp>
      <p:sp>
        <p:nvSpPr>
          <p:cNvPr id="32" name="TextBox 31">
            <a:extLst>
              <a:ext uri="{FF2B5EF4-FFF2-40B4-BE49-F238E27FC236}">
                <a16:creationId xmlns:a16="http://schemas.microsoft.com/office/drawing/2014/main" id="{7383938C-187C-04A0-E311-7C21EC5B5065}"/>
              </a:ext>
            </a:extLst>
          </p:cNvPr>
          <p:cNvSpPr txBox="1"/>
          <p:nvPr/>
        </p:nvSpPr>
        <p:spPr>
          <a:xfrm>
            <a:off x="11046504" y="26055380"/>
            <a:ext cx="815668" cy="584775"/>
          </a:xfrm>
          <a:prstGeom prst="rect">
            <a:avLst/>
          </a:prstGeom>
          <a:noFill/>
        </p:spPr>
        <p:txBody>
          <a:bodyPr wrap="square" rtlCol="0">
            <a:spAutoFit/>
          </a:bodyPr>
          <a:lstStyle/>
          <a:p>
            <a:r>
              <a:rPr lang="en-US" sz="3200"/>
              <a:t>(2)</a:t>
            </a:r>
          </a:p>
        </p:txBody>
      </p:sp>
      <p:sp>
        <p:nvSpPr>
          <p:cNvPr id="33" name="TextBox 32">
            <a:extLst>
              <a:ext uri="{FF2B5EF4-FFF2-40B4-BE49-F238E27FC236}">
                <a16:creationId xmlns:a16="http://schemas.microsoft.com/office/drawing/2014/main" id="{75CDC710-6147-8ACE-E1A8-CCA474496762}"/>
              </a:ext>
            </a:extLst>
          </p:cNvPr>
          <p:cNvSpPr txBox="1"/>
          <p:nvPr/>
        </p:nvSpPr>
        <p:spPr>
          <a:xfrm>
            <a:off x="35157175" y="10021303"/>
            <a:ext cx="1089710" cy="584775"/>
          </a:xfrm>
          <a:prstGeom prst="rect">
            <a:avLst/>
          </a:prstGeom>
          <a:noFill/>
        </p:spPr>
        <p:txBody>
          <a:bodyPr wrap="square" rtlCol="0">
            <a:spAutoFit/>
          </a:bodyPr>
          <a:lstStyle/>
          <a:p>
            <a:r>
              <a:rPr lang="en-US" sz="3200"/>
              <a:t>(1)</a:t>
            </a:r>
          </a:p>
        </p:txBody>
      </p:sp>
      <p:sp>
        <p:nvSpPr>
          <p:cNvPr id="34" name="TextBox 33">
            <a:extLst>
              <a:ext uri="{FF2B5EF4-FFF2-40B4-BE49-F238E27FC236}">
                <a16:creationId xmlns:a16="http://schemas.microsoft.com/office/drawing/2014/main" id="{76F7EB27-CF45-9E8D-2689-A7854D054EAA}"/>
              </a:ext>
            </a:extLst>
          </p:cNvPr>
          <p:cNvSpPr txBox="1"/>
          <p:nvPr/>
        </p:nvSpPr>
        <p:spPr>
          <a:xfrm>
            <a:off x="35722821" y="16489713"/>
            <a:ext cx="1064780" cy="584775"/>
          </a:xfrm>
          <a:prstGeom prst="rect">
            <a:avLst/>
          </a:prstGeom>
          <a:noFill/>
        </p:spPr>
        <p:txBody>
          <a:bodyPr wrap="square" rtlCol="0">
            <a:spAutoFit/>
          </a:bodyPr>
          <a:lstStyle/>
          <a:p>
            <a:r>
              <a:rPr lang="en-US" sz="3200"/>
              <a:t>(2)</a:t>
            </a:r>
          </a:p>
        </p:txBody>
      </p:sp>
      <p:sp>
        <p:nvSpPr>
          <p:cNvPr id="35" name="TextBox 34">
            <a:extLst>
              <a:ext uri="{FF2B5EF4-FFF2-40B4-BE49-F238E27FC236}">
                <a16:creationId xmlns:a16="http://schemas.microsoft.com/office/drawing/2014/main" id="{10FCB243-02D5-D572-9957-EB7B2A6930EF}"/>
              </a:ext>
            </a:extLst>
          </p:cNvPr>
          <p:cNvSpPr txBox="1"/>
          <p:nvPr/>
        </p:nvSpPr>
        <p:spPr>
          <a:xfrm>
            <a:off x="29325480" y="23544963"/>
            <a:ext cx="777214" cy="584775"/>
          </a:xfrm>
          <a:prstGeom prst="rect">
            <a:avLst/>
          </a:prstGeom>
          <a:noFill/>
        </p:spPr>
        <p:txBody>
          <a:bodyPr wrap="square" rtlCol="0">
            <a:spAutoFit/>
          </a:bodyPr>
          <a:lstStyle/>
          <a:p>
            <a:r>
              <a:rPr lang="en-US" sz="3200"/>
              <a:t>(3)</a:t>
            </a:r>
          </a:p>
        </p:txBody>
      </p:sp>
      <p:sp>
        <p:nvSpPr>
          <p:cNvPr id="37" name="TextBox 36">
            <a:extLst>
              <a:ext uri="{FF2B5EF4-FFF2-40B4-BE49-F238E27FC236}">
                <a16:creationId xmlns:a16="http://schemas.microsoft.com/office/drawing/2014/main" id="{34FD160D-6001-27D9-86E8-6689F4A5265A}"/>
              </a:ext>
            </a:extLst>
          </p:cNvPr>
          <p:cNvSpPr txBox="1"/>
          <p:nvPr/>
        </p:nvSpPr>
        <p:spPr>
          <a:xfrm>
            <a:off x="21912806" y="26043506"/>
            <a:ext cx="19013497" cy="4154984"/>
          </a:xfrm>
          <a:prstGeom prst="rect">
            <a:avLst/>
          </a:prstGeom>
          <a:noFill/>
        </p:spPr>
        <p:txBody>
          <a:bodyPr wrap="square" lIns="91440" tIns="45720" rIns="91440" bIns="45720" rtlCol="0" anchor="t">
            <a:spAutoFit/>
          </a:bodyPr>
          <a:lstStyle/>
          <a:p>
            <a:r>
              <a:rPr lang="en-US" sz="3200"/>
              <a:t>We would like to thank the developers of </a:t>
            </a:r>
            <a:r>
              <a:rPr lang="en-US" sz="3200" err="1"/>
              <a:t>Astropy</a:t>
            </a:r>
            <a:r>
              <a:rPr lang="en-US" sz="3200"/>
              <a:t> and emcee Markov Chain Monte Carlo </a:t>
            </a:r>
          </a:p>
          <a:p>
            <a:r>
              <a:rPr lang="en-US" sz="3200" b="1"/>
              <a:t>   </a:t>
            </a:r>
            <a:r>
              <a:rPr lang="en-US" sz="3200" b="1" err="1"/>
              <a:t>Astropy</a:t>
            </a:r>
            <a:r>
              <a:rPr lang="en-US" sz="3200" b="1"/>
              <a:t> Collaboration et al., 2018</a:t>
            </a:r>
            <a:br>
              <a:rPr lang="en-US" sz="3200"/>
            </a:br>
            <a:r>
              <a:rPr lang="en-US" sz="3200" i="1"/>
              <a:t>The </a:t>
            </a:r>
            <a:r>
              <a:rPr lang="en-US" sz="3200" i="1" err="1"/>
              <a:t>Astropy</a:t>
            </a:r>
            <a:r>
              <a:rPr lang="en-US" sz="3200" i="1"/>
              <a:t> Project: Building an Open-science Project and Status of the v2.0 Core Package</a:t>
            </a:r>
            <a:endParaRPr lang="en-US" sz="3200"/>
          </a:p>
          <a:p>
            <a:r>
              <a:rPr lang="en-US" sz="3200"/>
              <a:t>    Foreman-Mackey, D., Hogg, D. W., Lang, D., &amp; Goodman, J. (2013). </a:t>
            </a:r>
            <a:r>
              <a:rPr lang="en-US" sz="3200" i="1"/>
              <a:t>emcee: </a:t>
            </a:r>
            <a:r>
              <a:rPr lang="en-US" sz="3200" b="1" i="1"/>
              <a:t>The MCMC Hammer</a:t>
            </a:r>
            <a:r>
              <a:rPr lang="en-US" sz="3200"/>
              <a:t>. </a:t>
            </a:r>
            <a:r>
              <a:rPr lang="en-US" sz="3200" i="1"/>
              <a:t>Publications of the Astronomical Society of the Pacific</a:t>
            </a:r>
            <a:r>
              <a:rPr lang="en-US" sz="3200"/>
              <a:t>, 125(925), 306–312.</a:t>
            </a:r>
          </a:p>
          <a:p>
            <a:r>
              <a:rPr lang="en-US" sz="3200"/>
              <a:t>We would also like to thank the team of scientist who worked on the Supernova Cosmology Project </a:t>
            </a:r>
          </a:p>
          <a:p>
            <a:r>
              <a:rPr lang="en-US" sz="3200">
                <a:effectLst/>
              </a:rPr>
              <a:t>    “Supernova Cosmology Project.” </a:t>
            </a:r>
            <a:r>
              <a:rPr lang="en-US" sz="3200" i="1">
                <a:effectLst/>
              </a:rPr>
              <a:t>Supernova Cosmology Project</a:t>
            </a:r>
            <a:r>
              <a:rPr lang="en-US" sz="3200">
                <a:effectLst/>
              </a:rPr>
              <a:t>, supernova.lbl.gov/. Accessed 16 Apr. 2025. </a:t>
            </a:r>
          </a:p>
          <a:p>
            <a:endParaRPr lang="en-US"/>
          </a:p>
        </p:txBody>
      </p:sp>
    </p:spTree>
    <p:extLst>
      <p:ext uri="{BB962C8B-B14F-4D97-AF65-F5344CB8AC3E}">
        <p14:creationId xmlns:p14="http://schemas.microsoft.com/office/powerpoint/2010/main" val="1398524774"/>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31F2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README xmlns="3cb54466-33f2-451b-a9d5-7f86735db099" xsi:nil="true"/>
    <lcf76f155ced4ddcb4097134ff3c332f xmlns="3cb54466-33f2-451b-a9d5-7f86735db099">
      <Terms xmlns="http://schemas.microsoft.com/office/infopath/2007/PartnerControls"/>
    </lcf76f155ced4ddcb4097134ff3c332f>
    <TaxCatchAll xmlns="e5987b79-e5eb-48cb-8a28-8ea2b8f1bfc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D56C9169EB5604BBDEFDA162D2A12F8" ma:contentTypeVersion="19" ma:contentTypeDescription="Create a new document." ma:contentTypeScope="" ma:versionID="53aedd24da72d593020e07a2c2a03bc7">
  <xsd:schema xmlns:xsd="http://www.w3.org/2001/XMLSchema" xmlns:xs="http://www.w3.org/2001/XMLSchema" xmlns:p="http://schemas.microsoft.com/office/2006/metadata/properties" xmlns:ns2="3cb54466-33f2-451b-a9d5-7f86735db099" xmlns:ns3="e5987b79-e5eb-48cb-8a28-8ea2b8f1bfc0" targetNamespace="http://schemas.microsoft.com/office/2006/metadata/properties" ma:root="true" ma:fieldsID="ddeb9658a6a2dcbb721a851080f5bea5" ns2:_="" ns3:_="">
    <xsd:import namespace="3cb54466-33f2-451b-a9d5-7f86735db099"/>
    <xsd:import namespace="e5987b79-e5eb-48cb-8a28-8ea2b8f1bfc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READM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b54466-33f2-451b-a9d5-7f86735db0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b434354-605c-4a24-9fd5-b21458dd13e5" ma:termSetId="09814cd3-568e-fe90-9814-8d621ff8fb84" ma:anchorId="fba54fb3-c3e1-fe81-a776-ca4b69148c4d" ma:open="true" ma:isKeyword="false">
      <xsd:complexType>
        <xsd:sequence>
          <xsd:element ref="pc:Terms" minOccurs="0" maxOccurs="1"/>
        </xsd:sequence>
      </xsd:complexType>
    </xsd:element>
    <xsd:element name="README" ma:index="24" nillable="true" ma:displayName="README" ma:description="Always read this file first" ma:format="Dropdown" ma:internalName="README">
      <xsd:simpleType>
        <xsd:restriction base="dms:Text">
          <xsd:maxLength value="255"/>
        </xsd:restriction>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987b79-e5eb-48cb-8a28-8ea2b8f1bfc0"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ac3eb4d0-bb34-4050-9cd0-3571f63fcabb}" ma:internalName="TaxCatchAll" ma:showField="CatchAllData" ma:web="e5987b79-e5eb-48cb-8a28-8ea2b8f1bfc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6B070A-61BA-4EAF-A2DC-F0C8433024F5}">
  <ds:schemaRefs>
    <ds:schemaRef ds:uri="http://schemas.microsoft.com/sharepoint/v3/contenttype/forms"/>
  </ds:schemaRefs>
</ds:datastoreItem>
</file>

<file path=customXml/itemProps2.xml><?xml version="1.0" encoding="utf-8"?>
<ds:datastoreItem xmlns:ds="http://schemas.openxmlformats.org/officeDocument/2006/customXml" ds:itemID="{93712665-99BC-4992-AEE1-8600AFDAF65B}">
  <ds:schemaRefs>
    <ds:schemaRef ds:uri="3cb54466-33f2-451b-a9d5-7f86735db099"/>
    <ds:schemaRef ds:uri="e5987b79-e5eb-48cb-8a28-8ea2b8f1bfc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CAEB173-5497-4C2A-82DD-EBD2F82B7E53}">
  <ds:schemaRefs>
    <ds:schemaRef ds:uri="3cb54466-33f2-451b-a9d5-7f86735db099"/>
    <ds:schemaRef ds:uri="e5987b79-e5eb-48cb-8a28-8ea2b8f1bfc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763</Words>
  <Application>Microsoft Macintosh PowerPoint</Application>
  <PresentationFormat>Custom</PresentationFormat>
  <Paragraphs>43</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Dark Energy with Type 1a Supernovae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Research Study Presenter name, Associates and Collaborators</dc:title>
  <dc:creator>Nicole Gou</dc:creator>
  <cp:lastModifiedBy>Nihar Dalal</cp:lastModifiedBy>
  <cp:revision>3</cp:revision>
  <cp:lastPrinted>2019-10-10T20:03:49Z</cp:lastPrinted>
  <dcterms:created xsi:type="dcterms:W3CDTF">2013-07-30T10:24:34Z</dcterms:created>
  <dcterms:modified xsi:type="dcterms:W3CDTF">2025-12-01T18:21:40Z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2013-07-30T00:00:00Z</vt:filetime>
  </property>
  <property fmtid="{D5CDD505-2E9C-101B-9397-08002B2CF9AE}" pid="3" name="LastSaved">
    <vt:filetime>2013-07-30T00:00:00Z</vt:filetime>
  </property>
  <property fmtid="{D5CDD505-2E9C-101B-9397-08002B2CF9AE}" pid="4" name="ContentTypeId">
    <vt:lpwstr>0x0101003D56C9169EB5604BBDEFDA162D2A12F8</vt:lpwstr>
  </property>
  <property fmtid="{D5CDD505-2E9C-101B-9397-08002B2CF9AE}" pid="5" name="MediaServiceImageTags">
    <vt:lpwstr/>
  </property>
</Properties>
</file>